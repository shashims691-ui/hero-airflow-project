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3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A4445-2C00-4F6A-BB4D-F6E592A5A3EA}" v="604" dt="2026-06-21T11:43:23.425"/>
    <p1510:client id="{65EA99BC-3281-444D-9E07-F97C33C6C59B}" v="2947" dt="2026-06-21T10:27:39.150"/>
    <p1510:client id="{C8CAB055-12C6-4169-82F1-A2058203EED2}" v="55" dt="2026-06-21T10:49:42.07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52518D-970F-433C-8AFE-A2C3F0F3E344}" type="doc">
      <dgm:prSet loTypeId="urn:microsoft.com/office/officeart/2005/8/layout/lProcess3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41D26B-F4E2-4931-9ECF-86E8D550FA8D}">
      <dgm:prSet phldrT="[Text]" phldr="0"/>
      <dgm:spPr/>
      <dgm:t>
        <a:bodyPr/>
        <a:lstStyle/>
        <a:p>
          <a:pPr rtl="0"/>
          <a:r>
            <a:rPr lang="en-US"/>
            <a:t>Business Problem</a:t>
          </a:r>
        </a:p>
      </dgm:t>
    </dgm:pt>
    <dgm:pt modelId="{F72D2B09-802A-485B-B51D-2F35FB08DCF7}" type="parTrans" cxnId="{1F20E62D-5B15-48CA-B9BA-52146DF554BE}">
      <dgm:prSet/>
      <dgm:spPr/>
      <dgm:t>
        <a:bodyPr/>
        <a:lstStyle/>
        <a:p>
          <a:endParaRPr lang="en-US"/>
        </a:p>
      </dgm:t>
    </dgm:pt>
    <dgm:pt modelId="{55555955-944B-4A85-8E10-0C2868230974}" type="sibTrans" cxnId="{1F20E62D-5B15-48CA-B9BA-52146DF554BE}">
      <dgm:prSet/>
      <dgm:spPr/>
      <dgm:t>
        <a:bodyPr/>
        <a:lstStyle/>
        <a:p>
          <a:endParaRPr lang="en-US"/>
        </a:p>
      </dgm:t>
    </dgm:pt>
    <dgm:pt modelId="{C53A785D-C7D3-484B-8F01-5CF539A76FAB}">
      <dgm:prSet phldrT="[Text]" phldr="0"/>
      <dgm:spPr/>
      <dgm:t>
        <a:bodyPr/>
        <a:lstStyle/>
        <a:p>
          <a:pPr rtl="0"/>
          <a:r>
            <a:rPr lang="en-US" sz="2200"/>
            <a:t>Technology Stack</a:t>
          </a:r>
        </a:p>
      </dgm:t>
    </dgm:pt>
    <dgm:pt modelId="{06BD2B58-4E4F-4739-B7D2-DB27E81B694B}" type="parTrans" cxnId="{5678EDAD-ADC0-4546-B3A3-F0B9750BD891}">
      <dgm:prSet/>
      <dgm:spPr/>
      <dgm:t>
        <a:bodyPr/>
        <a:lstStyle/>
        <a:p>
          <a:endParaRPr lang="en-US"/>
        </a:p>
      </dgm:t>
    </dgm:pt>
    <dgm:pt modelId="{F27E353F-241F-4A57-970A-C13876DDC877}" type="sibTrans" cxnId="{5678EDAD-ADC0-4546-B3A3-F0B9750BD891}">
      <dgm:prSet/>
      <dgm:spPr/>
      <dgm:t>
        <a:bodyPr/>
        <a:lstStyle/>
        <a:p>
          <a:endParaRPr lang="en-US"/>
        </a:p>
      </dgm:t>
    </dgm:pt>
    <dgm:pt modelId="{BAF2CF96-94A8-48D7-B840-F7FFAFA2CBA5}">
      <dgm:prSet phldrT="[Text]" phldr="0"/>
      <dgm:spPr/>
      <dgm:t>
        <a:bodyPr/>
        <a:lstStyle/>
        <a:p>
          <a:pPr rtl="0"/>
          <a:r>
            <a:rPr lang="en-US" sz="2200"/>
            <a:t>ETL Architecture</a:t>
          </a:r>
          <a:endParaRPr lang="en-US" sz="2200">
            <a:latin typeface="Bierstadt"/>
          </a:endParaRPr>
        </a:p>
      </dgm:t>
    </dgm:pt>
    <dgm:pt modelId="{0CFA8042-2A5D-41ED-8DA9-F6F77EF4D85D}" type="parTrans" cxnId="{2B472951-7E34-4BAF-9AE6-65A8AEC61661}">
      <dgm:prSet/>
      <dgm:spPr/>
      <dgm:t>
        <a:bodyPr/>
        <a:lstStyle/>
        <a:p>
          <a:endParaRPr lang="en-US"/>
        </a:p>
      </dgm:t>
    </dgm:pt>
    <dgm:pt modelId="{072990BB-557D-4B36-BA3B-24210912C4FC}" type="sibTrans" cxnId="{2B472951-7E34-4BAF-9AE6-65A8AEC61661}">
      <dgm:prSet/>
      <dgm:spPr/>
      <dgm:t>
        <a:bodyPr/>
        <a:lstStyle/>
        <a:p>
          <a:endParaRPr lang="en-US"/>
        </a:p>
      </dgm:t>
    </dgm:pt>
    <dgm:pt modelId="{F582E0A1-6F1B-4D45-BEBE-61AA1AFD13B8}">
      <dgm:prSet phldrT="[Text]" phldr="0"/>
      <dgm:spPr/>
      <dgm:t>
        <a:bodyPr/>
        <a:lstStyle/>
        <a:p>
          <a:r>
            <a:rPr lang="en-US"/>
            <a:t>Airflow</a:t>
          </a:r>
        </a:p>
      </dgm:t>
    </dgm:pt>
    <dgm:pt modelId="{331E5A15-FC04-441A-981E-4F905A938C96}" type="parTrans" cxnId="{939BDE4A-6C6E-427E-B12B-C5A9D6465FD2}">
      <dgm:prSet/>
      <dgm:spPr/>
      <dgm:t>
        <a:bodyPr/>
        <a:lstStyle/>
        <a:p>
          <a:endParaRPr lang="en-US"/>
        </a:p>
      </dgm:t>
    </dgm:pt>
    <dgm:pt modelId="{A9B6CF08-8466-4583-998D-34311F01499F}" type="sibTrans" cxnId="{939BDE4A-6C6E-427E-B12B-C5A9D6465FD2}">
      <dgm:prSet/>
      <dgm:spPr/>
      <dgm:t>
        <a:bodyPr/>
        <a:lstStyle/>
        <a:p>
          <a:endParaRPr lang="en-US"/>
        </a:p>
      </dgm:t>
    </dgm:pt>
    <dgm:pt modelId="{4F88AF6B-A50A-4448-96F9-274F21190B91}">
      <dgm:prSet phldrT="[Text]" phldr="0"/>
      <dgm:spPr/>
      <dgm:t>
        <a:bodyPr/>
        <a:lstStyle/>
        <a:p>
          <a:r>
            <a:rPr lang="en-US" sz="2200"/>
            <a:t>Dashboard</a:t>
          </a:r>
        </a:p>
      </dgm:t>
    </dgm:pt>
    <dgm:pt modelId="{1076328D-CAE9-4809-9C86-9EF760C9572B}" type="parTrans" cxnId="{BD3603F4-6203-4591-B180-CDBAAA8F647F}">
      <dgm:prSet/>
      <dgm:spPr/>
      <dgm:t>
        <a:bodyPr/>
        <a:lstStyle/>
        <a:p>
          <a:endParaRPr lang="en-US"/>
        </a:p>
      </dgm:t>
    </dgm:pt>
    <dgm:pt modelId="{FDCB0FE3-ADA7-419F-87F8-2010A69B10E2}" type="sibTrans" cxnId="{BD3603F4-6203-4591-B180-CDBAAA8F647F}">
      <dgm:prSet/>
      <dgm:spPr/>
      <dgm:t>
        <a:bodyPr/>
        <a:lstStyle/>
        <a:p>
          <a:endParaRPr lang="en-US"/>
        </a:p>
      </dgm:t>
    </dgm:pt>
    <dgm:pt modelId="{8CF860AE-8476-4985-83B6-9363DC3E6B77}">
      <dgm:prSet phldrT="[Text]" phldr="0"/>
      <dgm:spPr/>
      <dgm:t>
        <a:bodyPr/>
        <a:lstStyle/>
        <a:p>
          <a:pPr algn="l" rtl="0"/>
          <a:r>
            <a:rPr lang="en-US"/>
            <a:t>Objectives</a:t>
          </a:r>
          <a:endParaRPr lang="en-US">
            <a:latin typeface="Bierstadt"/>
          </a:endParaRPr>
        </a:p>
      </dgm:t>
    </dgm:pt>
    <dgm:pt modelId="{9AA56E36-22E1-4392-82E1-995554FF4147}" type="parTrans" cxnId="{41D7CCDB-CD08-43BB-AC86-682843921CB8}">
      <dgm:prSet/>
      <dgm:spPr/>
    </dgm:pt>
    <dgm:pt modelId="{9629C40D-F569-4738-BBA6-46A38AAF8106}" type="sibTrans" cxnId="{41D7CCDB-CD08-43BB-AC86-682843921CB8}">
      <dgm:prSet/>
      <dgm:spPr/>
    </dgm:pt>
    <dgm:pt modelId="{2260928C-B3CE-4703-83D0-26C74531FF37}">
      <dgm:prSet phldrT="[Text]" phldr="0"/>
      <dgm:spPr/>
      <dgm:t>
        <a:bodyPr/>
        <a:lstStyle/>
        <a:p>
          <a:pPr algn="l" rtl="0"/>
          <a:r>
            <a:rPr lang="en-US"/>
            <a:t>Dataset</a:t>
          </a:r>
          <a:endParaRPr lang="en-US">
            <a:latin typeface="Bierstadt"/>
          </a:endParaRPr>
        </a:p>
      </dgm:t>
    </dgm:pt>
    <dgm:pt modelId="{A34D85EE-8381-42FF-94CF-F1C2354D9CEA}" type="parTrans" cxnId="{264F38D4-48BD-4492-9267-505B26BFD67B}">
      <dgm:prSet/>
      <dgm:spPr/>
    </dgm:pt>
    <dgm:pt modelId="{A336BFFF-F1BC-4E7E-A9CC-FEA7805D0FF9}" type="sibTrans" cxnId="{264F38D4-48BD-4492-9267-505B26BFD67B}">
      <dgm:prSet/>
      <dgm:spPr/>
    </dgm:pt>
    <dgm:pt modelId="{7EB82C2E-8A4E-44C2-ADDE-DD46C4241D3B}">
      <dgm:prSet phldrT="[Text]" phldr="0"/>
      <dgm:spPr/>
      <dgm:t>
        <a:bodyPr/>
        <a:lstStyle/>
        <a:p>
          <a:r>
            <a:rPr lang="en-US" sz="2200">
              <a:latin typeface="Bierstadt"/>
            </a:rPr>
            <a:t>Conclusion</a:t>
          </a:r>
        </a:p>
      </dgm:t>
    </dgm:pt>
    <dgm:pt modelId="{C29711E0-9BF1-4DAA-8116-AE8EDD5DA4D4}" type="parTrans" cxnId="{02627947-F5FA-4377-ACB7-DE7A6875ED4B}">
      <dgm:prSet/>
      <dgm:spPr/>
    </dgm:pt>
    <dgm:pt modelId="{FBDB2346-B6C2-46DE-96FE-474EFC441F9C}" type="sibTrans" cxnId="{02627947-F5FA-4377-ACB7-DE7A6875ED4B}">
      <dgm:prSet/>
      <dgm:spPr/>
    </dgm:pt>
    <dgm:pt modelId="{50DA8A6C-0A27-4E8B-BF0C-C892547FCB3C}">
      <dgm:prSet phldrT="[Text]" phldr="0"/>
      <dgm:spPr/>
      <dgm:t>
        <a:bodyPr/>
        <a:lstStyle/>
        <a:p>
          <a:pPr rtl="0"/>
          <a:r>
            <a:rPr lang="en-US" sz="1400">
              <a:latin typeface="Bierstadt"/>
            </a:rPr>
            <a:t>Bronz layer</a:t>
          </a:r>
          <a:endParaRPr lang="en-US" sz="1000">
            <a:latin typeface="Bierstadt"/>
          </a:endParaRPr>
        </a:p>
      </dgm:t>
    </dgm:pt>
    <dgm:pt modelId="{D1ED94DE-53C6-4C1B-8F61-5DB27DD35030}" type="parTrans" cxnId="{3D04F775-EC89-4C4E-B1EF-1654DEBC83AC}">
      <dgm:prSet/>
      <dgm:spPr/>
    </dgm:pt>
    <dgm:pt modelId="{DB86C15A-F4D8-430B-9CFD-E2D2BD965C9E}" type="sibTrans" cxnId="{3D04F775-EC89-4C4E-B1EF-1654DEBC83AC}">
      <dgm:prSet/>
      <dgm:spPr/>
    </dgm:pt>
    <dgm:pt modelId="{3FB25DDD-4748-4FEC-B87F-F3D9F29EE469}">
      <dgm:prSet phldrT="[Text]" phldr="0"/>
      <dgm:spPr/>
      <dgm:t>
        <a:bodyPr/>
        <a:lstStyle/>
        <a:p>
          <a:pPr rtl="0"/>
          <a:r>
            <a:rPr lang="en-US" sz="1800">
              <a:latin typeface="Bierstadt"/>
            </a:rPr>
            <a:t>Silver layer </a:t>
          </a:r>
        </a:p>
      </dgm:t>
    </dgm:pt>
    <dgm:pt modelId="{62B5BA8D-6226-488B-BAC6-652D76FCEE17}" type="parTrans" cxnId="{2F9F5431-2623-42F5-9735-E334283B0641}">
      <dgm:prSet/>
      <dgm:spPr/>
    </dgm:pt>
    <dgm:pt modelId="{FD049B22-E43E-4C57-9439-46CC94B2A197}" type="sibTrans" cxnId="{2F9F5431-2623-42F5-9735-E334283B0641}">
      <dgm:prSet/>
      <dgm:spPr/>
    </dgm:pt>
    <dgm:pt modelId="{64906222-F621-442F-A799-D1D925131F85}">
      <dgm:prSet phldrT="[Text]" phldr="0"/>
      <dgm:spPr/>
      <dgm:t>
        <a:bodyPr/>
        <a:lstStyle/>
        <a:p>
          <a:pPr rtl="0"/>
          <a:r>
            <a:rPr lang="en-US" sz="1800">
              <a:latin typeface="Bierstadt"/>
            </a:rPr>
            <a:t>Gold layer    </a:t>
          </a:r>
          <a:endParaRPr lang="en-US"/>
        </a:p>
      </dgm:t>
    </dgm:pt>
    <dgm:pt modelId="{3FDE7DE1-2028-4007-AD92-87A4F3C4B224}" type="parTrans" cxnId="{261CE0AC-1147-4A9F-8323-569DCFFF4808}">
      <dgm:prSet/>
      <dgm:spPr/>
    </dgm:pt>
    <dgm:pt modelId="{2988005C-E3D5-4FCE-B8BA-E17AB8D4D696}" type="sibTrans" cxnId="{261CE0AC-1147-4A9F-8323-569DCFFF4808}">
      <dgm:prSet/>
      <dgm:spPr/>
    </dgm:pt>
    <dgm:pt modelId="{9AAB2303-3331-4F69-9ABC-4356180B28E8}">
      <dgm:prSet phldrT="[Text]" phldr="0"/>
      <dgm:spPr/>
      <dgm:t>
        <a:bodyPr/>
        <a:lstStyle/>
        <a:p>
          <a:r>
            <a:rPr lang="en-US" sz="1400">
              <a:latin typeface="Bierstadt"/>
            </a:rPr>
            <a:t>SQLite</a:t>
          </a:r>
        </a:p>
      </dgm:t>
    </dgm:pt>
    <dgm:pt modelId="{071BF7A6-6707-4D67-B5FA-306093E9B205}" type="parTrans" cxnId="{3A09BD1A-EB2E-421E-90F9-22EF303102D1}">
      <dgm:prSet/>
      <dgm:spPr/>
    </dgm:pt>
    <dgm:pt modelId="{8237F4D6-DEFF-4F0D-A211-1F5A0AF049F0}" type="sibTrans" cxnId="{3A09BD1A-EB2E-421E-90F9-22EF303102D1}">
      <dgm:prSet/>
      <dgm:spPr/>
    </dgm:pt>
    <dgm:pt modelId="{2F7EFF05-77F2-45A0-BE90-A8BA9E17635F}">
      <dgm:prSet phldrT="[Text]" phldr="0"/>
      <dgm:spPr/>
      <dgm:t>
        <a:bodyPr/>
        <a:lstStyle/>
        <a:p>
          <a:r>
            <a:rPr lang="en-US" sz="1800">
              <a:latin typeface="Bierstadt"/>
            </a:rPr>
            <a:t>Insights</a:t>
          </a:r>
        </a:p>
      </dgm:t>
    </dgm:pt>
    <dgm:pt modelId="{6B076604-863B-4824-8B8A-76A0D1091EC4}" type="parTrans" cxnId="{E7DDFDC2-B9CF-4A93-99E8-E0E39354D0E0}">
      <dgm:prSet/>
      <dgm:spPr/>
    </dgm:pt>
    <dgm:pt modelId="{5922DC82-B72F-4E83-A6E8-817ECB45E97B}" type="sibTrans" cxnId="{E7DDFDC2-B9CF-4A93-99E8-E0E39354D0E0}">
      <dgm:prSet/>
      <dgm:spPr/>
    </dgm:pt>
    <dgm:pt modelId="{997B6072-88FB-4C85-AF0D-E6A1D6F647E1}" type="pres">
      <dgm:prSet presAssocID="{3852518D-970F-433C-8AFE-A2C3F0F3E34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CBC888F-16C0-4492-9EF3-76E797FB0870}" type="pres">
      <dgm:prSet presAssocID="{E241D26B-F4E2-4931-9ECF-86E8D550FA8D}" presName="horFlow" presStyleCnt="0"/>
      <dgm:spPr/>
    </dgm:pt>
    <dgm:pt modelId="{698BADC8-BBCC-4CCE-8824-5412C7B6CA13}" type="pres">
      <dgm:prSet presAssocID="{E241D26B-F4E2-4931-9ECF-86E8D550FA8D}" presName="bigChev" presStyleLbl="node1" presStyleIdx="0" presStyleCnt="8"/>
      <dgm:spPr/>
    </dgm:pt>
    <dgm:pt modelId="{A55DC239-AFEF-430F-879A-803AFCEB52C9}" type="pres">
      <dgm:prSet presAssocID="{E241D26B-F4E2-4931-9ECF-86E8D550FA8D}" presName="vSp" presStyleCnt="0"/>
      <dgm:spPr/>
    </dgm:pt>
    <dgm:pt modelId="{8A441A3F-58EA-45AF-924B-5FFA523D18CB}" type="pres">
      <dgm:prSet presAssocID="{8CF860AE-8476-4985-83B6-9363DC3E6B77}" presName="horFlow" presStyleCnt="0"/>
      <dgm:spPr/>
    </dgm:pt>
    <dgm:pt modelId="{38B48B37-F87C-4D2E-ABFA-561D6E2F1EFF}" type="pres">
      <dgm:prSet presAssocID="{8CF860AE-8476-4985-83B6-9363DC3E6B77}" presName="bigChev" presStyleLbl="node1" presStyleIdx="1" presStyleCnt="8"/>
      <dgm:spPr/>
    </dgm:pt>
    <dgm:pt modelId="{BE268375-FCB7-4574-9321-1D0DFBFA2A03}" type="pres">
      <dgm:prSet presAssocID="{8CF860AE-8476-4985-83B6-9363DC3E6B77}" presName="vSp" presStyleCnt="0"/>
      <dgm:spPr/>
    </dgm:pt>
    <dgm:pt modelId="{5CF12643-A904-4E55-B036-299A3108DAB7}" type="pres">
      <dgm:prSet presAssocID="{2260928C-B3CE-4703-83D0-26C74531FF37}" presName="horFlow" presStyleCnt="0"/>
      <dgm:spPr/>
    </dgm:pt>
    <dgm:pt modelId="{2E6BCF1B-9857-4BE1-93E5-CC0EAC515CE8}" type="pres">
      <dgm:prSet presAssocID="{2260928C-B3CE-4703-83D0-26C74531FF37}" presName="bigChev" presStyleLbl="node1" presStyleIdx="2" presStyleCnt="8"/>
      <dgm:spPr/>
    </dgm:pt>
    <dgm:pt modelId="{AFD7BBF5-A9BC-4486-88E2-397CC989D69B}" type="pres">
      <dgm:prSet presAssocID="{2260928C-B3CE-4703-83D0-26C74531FF37}" presName="vSp" presStyleCnt="0"/>
      <dgm:spPr/>
    </dgm:pt>
    <dgm:pt modelId="{3D88464B-7184-4E7B-80D6-179C3E4F0DE7}" type="pres">
      <dgm:prSet presAssocID="{C53A785D-C7D3-484B-8F01-5CF539A76FAB}" presName="horFlow" presStyleCnt="0"/>
      <dgm:spPr/>
    </dgm:pt>
    <dgm:pt modelId="{7B76B2FC-1EFC-45AA-8263-B14B8A1189A3}" type="pres">
      <dgm:prSet presAssocID="{C53A785D-C7D3-484B-8F01-5CF539A76FAB}" presName="bigChev" presStyleLbl="node1" presStyleIdx="3" presStyleCnt="8"/>
      <dgm:spPr/>
    </dgm:pt>
    <dgm:pt modelId="{0054683F-C339-4F04-9FF2-471F2CEBCD5B}" type="pres">
      <dgm:prSet presAssocID="{C53A785D-C7D3-484B-8F01-5CF539A76FAB}" presName="vSp" presStyleCnt="0"/>
      <dgm:spPr/>
    </dgm:pt>
    <dgm:pt modelId="{03C00E42-25E2-49CD-B038-3063E6A54406}" type="pres">
      <dgm:prSet presAssocID="{BAF2CF96-94A8-48D7-B840-F7FFAFA2CBA5}" presName="horFlow" presStyleCnt="0"/>
      <dgm:spPr/>
    </dgm:pt>
    <dgm:pt modelId="{548AB61E-F3D7-4714-BE7A-9396C57D43E0}" type="pres">
      <dgm:prSet presAssocID="{BAF2CF96-94A8-48D7-B840-F7FFAFA2CBA5}" presName="bigChev" presStyleLbl="node1" presStyleIdx="4" presStyleCnt="8"/>
      <dgm:spPr/>
    </dgm:pt>
    <dgm:pt modelId="{D8573338-6C4A-4EC6-ABDA-1A9DBCAF03A1}" type="pres">
      <dgm:prSet presAssocID="{D1ED94DE-53C6-4C1B-8F61-5DB27DD35030}" presName="parTrans" presStyleCnt="0"/>
      <dgm:spPr/>
    </dgm:pt>
    <dgm:pt modelId="{7131C971-98FB-4949-ABAD-83565965E7E0}" type="pres">
      <dgm:prSet presAssocID="{50DA8A6C-0A27-4E8B-BF0C-C892547FCB3C}" presName="node" presStyleLbl="alignAccFollowNode1" presStyleIdx="0" presStyleCnt="5">
        <dgm:presLayoutVars>
          <dgm:bulletEnabled val="1"/>
        </dgm:presLayoutVars>
      </dgm:prSet>
      <dgm:spPr/>
    </dgm:pt>
    <dgm:pt modelId="{ACF2BE9D-C7CA-4534-9598-252FB3E3C9FB}" type="pres">
      <dgm:prSet presAssocID="{DB86C15A-F4D8-430B-9CFD-E2D2BD965C9E}" presName="sibTrans" presStyleCnt="0"/>
      <dgm:spPr/>
    </dgm:pt>
    <dgm:pt modelId="{4B3DF3CD-DD59-413E-BA30-9299865116C4}" type="pres">
      <dgm:prSet presAssocID="{3FB25DDD-4748-4FEC-B87F-F3D9F29EE469}" presName="node" presStyleLbl="alignAccFollowNode1" presStyleIdx="1" presStyleCnt="5">
        <dgm:presLayoutVars>
          <dgm:bulletEnabled val="1"/>
        </dgm:presLayoutVars>
      </dgm:prSet>
      <dgm:spPr/>
    </dgm:pt>
    <dgm:pt modelId="{593C47FE-740E-4110-AA6A-7CC8A82A1774}" type="pres">
      <dgm:prSet presAssocID="{FD049B22-E43E-4C57-9439-46CC94B2A197}" presName="sibTrans" presStyleCnt="0"/>
      <dgm:spPr/>
    </dgm:pt>
    <dgm:pt modelId="{5EBB3ECC-6712-4FFD-9115-E3E636AE82C2}" type="pres">
      <dgm:prSet presAssocID="{64906222-F621-442F-A799-D1D925131F85}" presName="node" presStyleLbl="alignAccFollowNode1" presStyleIdx="2" presStyleCnt="5">
        <dgm:presLayoutVars>
          <dgm:bulletEnabled val="1"/>
        </dgm:presLayoutVars>
      </dgm:prSet>
      <dgm:spPr/>
    </dgm:pt>
    <dgm:pt modelId="{27FC3502-419A-467B-9302-6893075821BD}" type="pres">
      <dgm:prSet presAssocID="{BAF2CF96-94A8-48D7-B840-F7FFAFA2CBA5}" presName="vSp" presStyleCnt="0"/>
      <dgm:spPr/>
    </dgm:pt>
    <dgm:pt modelId="{47FC8A73-DC56-44EB-922F-715FEF10065C}" type="pres">
      <dgm:prSet presAssocID="{F582E0A1-6F1B-4D45-BEBE-61AA1AFD13B8}" presName="horFlow" presStyleCnt="0"/>
      <dgm:spPr/>
    </dgm:pt>
    <dgm:pt modelId="{4DD419E6-931F-48DE-BB2F-B857DC7CBA2E}" type="pres">
      <dgm:prSet presAssocID="{F582E0A1-6F1B-4D45-BEBE-61AA1AFD13B8}" presName="bigChev" presStyleLbl="node1" presStyleIdx="5" presStyleCnt="8"/>
      <dgm:spPr/>
    </dgm:pt>
    <dgm:pt modelId="{6BB6BF20-30AB-4545-A1A4-500D8DB34B08}" type="pres">
      <dgm:prSet presAssocID="{071BF7A6-6707-4D67-B5FA-306093E9B205}" presName="parTrans" presStyleCnt="0"/>
      <dgm:spPr/>
    </dgm:pt>
    <dgm:pt modelId="{ED91DBE9-AEEE-4DA5-8EE8-DB8FA0728639}" type="pres">
      <dgm:prSet presAssocID="{9AAB2303-3331-4F69-9ABC-4356180B28E8}" presName="node" presStyleLbl="alignAccFollowNode1" presStyleIdx="3" presStyleCnt="5">
        <dgm:presLayoutVars>
          <dgm:bulletEnabled val="1"/>
        </dgm:presLayoutVars>
      </dgm:prSet>
      <dgm:spPr/>
    </dgm:pt>
    <dgm:pt modelId="{5BDAAB89-D30E-4F7B-BE11-6B3E506174B5}" type="pres">
      <dgm:prSet presAssocID="{F582E0A1-6F1B-4D45-BEBE-61AA1AFD13B8}" presName="vSp" presStyleCnt="0"/>
      <dgm:spPr/>
    </dgm:pt>
    <dgm:pt modelId="{8CF5C7D0-18B5-4B67-81D6-2EE8F83D32BA}" type="pres">
      <dgm:prSet presAssocID="{4F88AF6B-A50A-4448-96F9-274F21190B91}" presName="horFlow" presStyleCnt="0"/>
      <dgm:spPr/>
    </dgm:pt>
    <dgm:pt modelId="{2597E699-EDC6-45F0-A78A-9E98B1C4BA58}" type="pres">
      <dgm:prSet presAssocID="{4F88AF6B-A50A-4448-96F9-274F21190B91}" presName="bigChev" presStyleLbl="node1" presStyleIdx="6" presStyleCnt="8"/>
      <dgm:spPr/>
    </dgm:pt>
    <dgm:pt modelId="{10553BF6-8DC8-410F-B491-B8D36994315E}" type="pres">
      <dgm:prSet presAssocID="{6B076604-863B-4824-8B8A-76A0D1091EC4}" presName="parTrans" presStyleCnt="0"/>
      <dgm:spPr/>
    </dgm:pt>
    <dgm:pt modelId="{F4444316-2673-4772-9CDB-EC8914C188F4}" type="pres">
      <dgm:prSet presAssocID="{2F7EFF05-77F2-45A0-BE90-A8BA9E17635F}" presName="node" presStyleLbl="alignAccFollowNode1" presStyleIdx="4" presStyleCnt="5">
        <dgm:presLayoutVars>
          <dgm:bulletEnabled val="1"/>
        </dgm:presLayoutVars>
      </dgm:prSet>
      <dgm:spPr/>
    </dgm:pt>
    <dgm:pt modelId="{95C6C1C6-B423-406C-9F2E-9D6A8E2BF6AD}" type="pres">
      <dgm:prSet presAssocID="{4F88AF6B-A50A-4448-96F9-274F21190B91}" presName="vSp" presStyleCnt="0"/>
      <dgm:spPr/>
    </dgm:pt>
    <dgm:pt modelId="{046353AA-3C50-4236-9570-7C526944AA6D}" type="pres">
      <dgm:prSet presAssocID="{7EB82C2E-8A4E-44C2-ADDE-DD46C4241D3B}" presName="horFlow" presStyleCnt="0"/>
      <dgm:spPr/>
    </dgm:pt>
    <dgm:pt modelId="{5C29BC18-501B-479D-A4A4-C2D19BD018A1}" type="pres">
      <dgm:prSet presAssocID="{7EB82C2E-8A4E-44C2-ADDE-DD46C4241D3B}" presName="bigChev" presStyleLbl="node1" presStyleIdx="7" presStyleCnt="8"/>
      <dgm:spPr/>
    </dgm:pt>
  </dgm:ptLst>
  <dgm:cxnLst>
    <dgm:cxn modelId="{729A4703-8484-4F11-98DF-CF3A73F55BA0}" type="presOf" srcId="{E241D26B-F4E2-4931-9ECF-86E8D550FA8D}" destId="{698BADC8-BBCC-4CCE-8824-5412C7B6CA13}" srcOrd="0" destOrd="0" presId="urn:microsoft.com/office/officeart/2005/8/layout/lProcess3"/>
    <dgm:cxn modelId="{86344804-D1FA-4F80-9CD1-45A3A1CDF8D2}" type="presOf" srcId="{F582E0A1-6F1B-4D45-BEBE-61AA1AFD13B8}" destId="{4DD419E6-931F-48DE-BB2F-B857DC7CBA2E}" srcOrd="0" destOrd="0" presId="urn:microsoft.com/office/officeart/2005/8/layout/lProcess3"/>
    <dgm:cxn modelId="{6907D80F-549D-4CE5-ABE9-F9F7F8672D64}" type="presOf" srcId="{2260928C-B3CE-4703-83D0-26C74531FF37}" destId="{2E6BCF1B-9857-4BE1-93E5-CC0EAC515CE8}" srcOrd="0" destOrd="0" presId="urn:microsoft.com/office/officeart/2005/8/layout/lProcess3"/>
    <dgm:cxn modelId="{8740DE16-A335-434B-A0C7-705AA2DBD32F}" type="presOf" srcId="{3852518D-970F-433C-8AFE-A2C3F0F3E344}" destId="{997B6072-88FB-4C85-AF0D-E6A1D6F647E1}" srcOrd="0" destOrd="0" presId="urn:microsoft.com/office/officeart/2005/8/layout/lProcess3"/>
    <dgm:cxn modelId="{3A09BD1A-EB2E-421E-90F9-22EF303102D1}" srcId="{F582E0A1-6F1B-4D45-BEBE-61AA1AFD13B8}" destId="{9AAB2303-3331-4F69-9ABC-4356180B28E8}" srcOrd="0" destOrd="0" parTransId="{071BF7A6-6707-4D67-B5FA-306093E9B205}" sibTransId="{8237F4D6-DEFF-4F0D-A211-1F5A0AF049F0}"/>
    <dgm:cxn modelId="{1F20E62D-5B15-48CA-B9BA-52146DF554BE}" srcId="{3852518D-970F-433C-8AFE-A2C3F0F3E344}" destId="{E241D26B-F4E2-4931-9ECF-86E8D550FA8D}" srcOrd="0" destOrd="0" parTransId="{F72D2B09-802A-485B-B51D-2F35FB08DCF7}" sibTransId="{55555955-944B-4A85-8E10-0C2868230974}"/>
    <dgm:cxn modelId="{EEAA0230-0333-4987-83A1-CF03067FFC08}" type="presOf" srcId="{50DA8A6C-0A27-4E8B-BF0C-C892547FCB3C}" destId="{7131C971-98FB-4949-ABAD-83565965E7E0}" srcOrd="0" destOrd="0" presId="urn:microsoft.com/office/officeart/2005/8/layout/lProcess3"/>
    <dgm:cxn modelId="{2F9F5431-2623-42F5-9735-E334283B0641}" srcId="{BAF2CF96-94A8-48D7-B840-F7FFAFA2CBA5}" destId="{3FB25DDD-4748-4FEC-B87F-F3D9F29EE469}" srcOrd="1" destOrd="0" parTransId="{62B5BA8D-6226-488B-BAC6-652D76FCEE17}" sibTransId="{FD049B22-E43E-4C57-9439-46CC94B2A197}"/>
    <dgm:cxn modelId="{0D8F8C3B-9CEF-4825-9F04-5B0815CD5E11}" type="presOf" srcId="{BAF2CF96-94A8-48D7-B840-F7FFAFA2CBA5}" destId="{548AB61E-F3D7-4714-BE7A-9396C57D43E0}" srcOrd="0" destOrd="0" presId="urn:microsoft.com/office/officeart/2005/8/layout/lProcess3"/>
    <dgm:cxn modelId="{9C4E4D40-612B-401C-B81D-ED77F267B52C}" type="presOf" srcId="{7EB82C2E-8A4E-44C2-ADDE-DD46C4241D3B}" destId="{5C29BC18-501B-479D-A4A4-C2D19BD018A1}" srcOrd="0" destOrd="0" presId="urn:microsoft.com/office/officeart/2005/8/layout/lProcess3"/>
    <dgm:cxn modelId="{02627947-F5FA-4377-ACB7-DE7A6875ED4B}" srcId="{3852518D-970F-433C-8AFE-A2C3F0F3E344}" destId="{7EB82C2E-8A4E-44C2-ADDE-DD46C4241D3B}" srcOrd="7" destOrd="0" parTransId="{C29711E0-9BF1-4DAA-8116-AE8EDD5DA4D4}" sibTransId="{FBDB2346-B6C2-46DE-96FE-474EFC441F9C}"/>
    <dgm:cxn modelId="{939BDE4A-6C6E-427E-B12B-C5A9D6465FD2}" srcId="{3852518D-970F-433C-8AFE-A2C3F0F3E344}" destId="{F582E0A1-6F1B-4D45-BEBE-61AA1AFD13B8}" srcOrd="5" destOrd="0" parTransId="{331E5A15-FC04-441A-981E-4F905A938C96}" sibTransId="{A9B6CF08-8466-4583-998D-34311F01499F}"/>
    <dgm:cxn modelId="{E60B4750-DEAC-43D7-BBCD-A37E640DD47E}" type="presOf" srcId="{2F7EFF05-77F2-45A0-BE90-A8BA9E17635F}" destId="{F4444316-2673-4772-9CDB-EC8914C188F4}" srcOrd="0" destOrd="0" presId="urn:microsoft.com/office/officeart/2005/8/layout/lProcess3"/>
    <dgm:cxn modelId="{2B472951-7E34-4BAF-9AE6-65A8AEC61661}" srcId="{3852518D-970F-433C-8AFE-A2C3F0F3E344}" destId="{BAF2CF96-94A8-48D7-B840-F7FFAFA2CBA5}" srcOrd="4" destOrd="0" parTransId="{0CFA8042-2A5D-41ED-8DA9-F6F77EF4D85D}" sibTransId="{072990BB-557D-4B36-BA3B-24210912C4FC}"/>
    <dgm:cxn modelId="{3D04F775-EC89-4C4E-B1EF-1654DEBC83AC}" srcId="{BAF2CF96-94A8-48D7-B840-F7FFAFA2CBA5}" destId="{50DA8A6C-0A27-4E8B-BF0C-C892547FCB3C}" srcOrd="0" destOrd="0" parTransId="{D1ED94DE-53C6-4C1B-8F61-5DB27DD35030}" sibTransId="{DB86C15A-F4D8-430B-9CFD-E2D2BD965C9E}"/>
    <dgm:cxn modelId="{D9F31593-9472-488C-AD14-20C3AEB42ED8}" type="presOf" srcId="{C53A785D-C7D3-484B-8F01-5CF539A76FAB}" destId="{7B76B2FC-1EFC-45AA-8263-B14B8A1189A3}" srcOrd="0" destOrd="0" presId="urn:microsoft.com/office/officeart/2005/8/layout/lProcess3"/>
    <dgm:cxn modelId="{06D8B4A8-4EC2-4DA8-8142-D75E0E40A844}" type="presOf" srcId="{3FB25DDD-4748-4FEC-B87F-F3D9F29EE469}" destId="{4B3DF3CD-DD59-413E-BA30-9299865116C4}" srcOrd="0" destOrd="0" presId="urn:microsoft.com/office/officeart/2005/8/layout/lProcess3"/>
    <dgm:cxn modelId="{261CE0AC-1147-4A9F-8323-569DCFFF4808}" srcId="{BAF2CF96-94A8-48D7-B840-F7FFAFA2CBA5}" destId="{64906222-F621-442F-A799-D1D925131F85}" srcOrd="2" destOrd="0" parTransId="{3FDE7DE1-2028-4007-AD92-87A4F3C4B224}" sibTransId="{2988005C-E3D5-4FCE-B8BA-E17AB8D4D696}"/>
    <dgm:cxn modelId="{5678EDAD-ADC0-4546-B3A3-F0B9750BD891}" srcId="{3852518D-970F-433C-8AFE-A2C3F0F3E344}" destId="{C53A785D-C7D3-484B-8F01-5CF539A76FAB}" srcOrd="3" destOrd="0" parTransId="{06BD2B58-4E4F-4739-B7D2-DB27E81B694B}" sibTransId="{F27E353F-241F-4A57-970A-C13876DDC877}"/>
    <dgm:cxn modelId="{D09922C2-5E24-4F20-928C-740B9B5A65A7}" type="presOf" srcId="{8CF860AE-8476-4985-83B6-9363DC3E6B77}" destId="{38B48B37-F87C-4D2E-ABFA-561D6E2F1EFF}" srcOrd="0" destOrd="0" presId="urn:microsoft.com/office/officeart/2005/8/layout/lProcess3"/>
    <dgm:cxn modelId="{E7DDFDC2-B9CF-4A93-99E8-E0E39354D0E0}" srcId="{4F88AF6B-A50A-4448-96F9-274F21190B91}" destId="{2F7EFF05-77F2-45A0-BE90-A8BA9E17635F}" srcOrd="0" destOrd="0" parTransId="{6B076604-863B-4824-8B8A-76A0D1091EC4}" sibTransId="{5922DC82-B72F-4E83-A6E8-817ECB45E97B}"/>
    <dgm:cxn modelId="{264F38D4-48BD-4492-9267-505B26BFD67B}" srcId="{3852518D-970F-433C-8AFE-A2C3F0F3E344}" destId="{2260928C-B3CE-4703-83D0-26C74531FF37}" srcOrd="2" destOrd="0" parTransId="{A34D85EE-8381-42FF-94CF-F1C2354D9CEA}" sibTransId="{A336BFFF-F1BC-4E7E-A9CC-FEA7805D0FF9}"/>
    <dgm:cxn modelId="{519EC9DA-8673-4321-9CE6-735366D42BEC}" type="presOf" srcId="{4F88AF6B-A50A-4448-96F9-274F21190B91}" destId="{2597E699-EDC6-45F0-A78A-9E98B1C4BA58}" srcOrd="0" destOrd="0" presId="urn:microsoft.com/office/officeart/2005/8/layout/lProcess3"/>
    <dgm:cxn modelId="{41D7CCDB-CD08-43BB-AC86-682843921CB8}" srcId="{3852518D-970F-433C-8AFE-A2C3F0F3E344}" destId="{8CF860AE-8476-4985-83B6-9363DC3E6B77}" srcOrd="1" destOrd="0" parTransId="{9AA56E36-22E1-4392-82E1-995554FF4147}" sibTransId="{9629C40D-F569-4738-BBA6-46A38AAF8106}"/>
    <dgm:cxn modelId="{8DF452E5-B25B-4E0C-B9BC-267416C648E5}" type="presOf" srcId="{64906222-F621-442F-A799-D1D925131F85}" destId="{5EBB3ECC-6712-4FFD-9115-E3E636AE82C2}" srcOrd="0" destOrd="0" presId="urn:microsoft.com/office/officeart/2005/8/layout/lProcess3"/>
    <dgm:cxn modelId="{BE4F17F3-FABF-400D-BD23-EF6CB6C6EE8C}" type="presOf" srcId="{9AAB2303-3331-4F69-9ABC-4356180B28E8}" destId="{ED91DBE9-AEEE-4DA5-8EE8-DB8FA0728639}" srcOrd="0" destOrd="0" presId="urn:microsoft.com/office/officeart/2005/8/layout/lProcess3"/>
    <dgm:cxn modelId="{BD3603F4-6203-4591-B180-CDBAAA8F647F}" srcId="{3852518D-970F-433C-8AFE-A2C3F0F3E344}" destId="{4F88AF6B-A50A-4448-96F9-274F21190B91}" srcOrd="6" destOrd="0" parTransId="{1076328D-CAE9-4809-9C86-9EF760C9572B}" sibTransId="{FDCB0FE3-ADA7-419F-87F8-2010A69B10E2}"/>
    <dgm:cxn modelId="{A77FC876-27CE-40F1-AAFC-E04A097D1BFE}" type="presParOf" srcId="{997B6072-88FB-4C85-AF0D-E6A1D6F647E1}" destId="{7CBC888F-16C0-4492-9EF3-76E797FB0870}" srcOrd="0" destOrd="0" presId="urn:microsoft.com/office/officeart/2005/8/layout/lProcess3"/>
    <dgm:cxn modelId="{15D57A1C-294A-4520-8450-691629CFB993}" type="presParOf" srcId="{7CBC888F-16C0-4492-9EF3-76E797FB0870}" destId="{698BADC8-BBCC-4CCE-8824-5412C7B6CA13}" srcOrd="0" destOrd="0" presId="urn:microsoft.com/office/officeart/2005/8/layout/lProcess3"/>
    <dgm:cxn modelId="{C93B779C-7061-44DF-8831-EA6712721F59}" type="presParOf" srcId="{997B6072-88FB-4C85-AF0D-E6A1D6F647E1}" destId="{A55DC239-AFEF-430F-879A-803AFCEB52C9}" srcOrd="1" destOrd="0" presId="urn:microsoft.com/office/officeart/2005/8/layout/lProcess3"/>
    <dgm:cxn modelId="{1C291E27-73A1-4B02-A718-615E5DCEDF38}" type="presParOf" srcId="{997B6072-88FB-4C85-AF0D-E6A1D6F647E1}" destId="{8A441A3F-58EA-45AF-924B-5FFA523D18CB}" srcOrd="2" destOrd="0" presId="urn:microsoft.com/office/officeart/2005/8/layout/lProcess3"/>
    <dgm:cxn modelId="{14A528D4-685E-44A8-8F03-E785C77DAD53}" type="presParOf" srcId="{8A441A3F-58EA-45AF-924B-5FFA523D18CB}" destId="{38B48B37-F87C-4D2E-ABFA-561D6E2F1EFF}" srcOrd="0" destOrd="0" presId="urn:microsoft.com/office/officeart/2005/8/layout/lProcess3"/>
    <dgm:cxn modelId="{0FDB9E2D-B8F2-475B-A0B3-63246007519F}" type="presParOf" srcId="{997B6072-88FB-4C85-AF0D-E6A1D6F647E1}" destId="{BE268375-FCB7-4574-9321-1D0DFBFA2A03}" srcOrd="3" destOrd="0" presId="urn:microsoft.com/office/officeart/2005/8/layout/lProcess3"/>
    <dgm:cxn modelId="{CAEAAAAE-752B-4277-A0E1-F55D9F225F7D}" type="presParOf" srcId="{997B6072-88FB-4C85-AF0D-E6A1D6F647E1}" destId="{5CF12643-A904-4E55-B036-299A3108DAB7}" srcOrd="4" destOrd="0" presId="urn:microsoft.com/office/officeart/2005/8/layout/lProcess3"/>
    <dgm:cxn modelId="{4FE256B9-BD0C-491F-9F81-95CB4A932094}" type="presParOf" srcId="{5CF12643-A904-4E55-B036-299A3108DAB7}" destId="{2E6BCF1B-9857-4BE1-93E5-CC0EAC515CE8}" srcOrd="0" destOrd="0" presId="urn:microsoft.com/office/officeart/2005/8/layout/lProcess3"/>
    <dgm:cxn modelId="{88B31AA9-BF92-41A5-8FD9-11492FD80DE8}" type="presParOf" srcId="{997B6072-88FB-4C85-AF0D-E6A1D6F647E1}" destId="{AFD7BBF5-A9BC-4486-88E2-397CC989D69B}" srcOrd="5" destOrd="0" presId="urn:microsoft.com/office/officeart/2005/8/layout/lProcess3"/>
    <dgm:cxn modelId="{D3697E70-4E73-4C71-80C7-FA9B8C989EC5}" type="presParOf" srcId="{997B6072-88FB-4C85-AF0D-E6A1D6F647E1}" destId="{3D88464B-7184-4E7B-80D6-179C3E4F0DE7}" srcOrd="6" destOrd="0" presId="urn:microsoft.com/office/officeart/2005/8/layout/lProcess3"/>
    <dgm:cxn modelId="{9EDBAB9D-FA33-4C7C-BA2B-31E127E988B5}" type="presParOf" srcId="{3D88464B-7184-4E7B-80D6-179C3E4F0DE7}" destId="{7B76B2FC-1EFC-45AA-8263-B14B8A1189A3}" srcOrd="0" destOrd="0" presId="urn:microsoft.com/office/officeart/2005/8/layout/lProcess3"/>
    <dgm:cxn modelId="{C1E1C73F-3E0E-42EC-96C5-690F0BE34720}" type="presParOf" srcId="{997B6072-88FB-4C85-AF0D-E6A1D6F647E1}" destId="{0054683F-C339-4F04-9FF2-471F2CEBCD5B}" srcOrd="7" destOrd="0" presId="urn:microsoft.com/office/officeart/2005/8/layout/lProcess3"/>
    <dgm:cxn modelId="{3DED51F7-413B-4FB7-9246-1452FF54ECD8}" type="presParOf" srcId="{997B6072-88FB-4C85-AF0D-E6A1D6F647E1}" destId="{03C00E42-25E2-49CD-B038-3063E6A54406}" srcOrd="8" destOrd="0" presId="urn:microsoft.com/office/officeart/2005/8/layout/lProcess3"/>
    <dgm:cxn modelId="{E90E42D2-49E3-477F-95CC-866BC222E4BE}" type="presParOf" srcId="{03C00E42-25E2-49CD-B038-3063E6A54406}" destId="{548AB61E-F3D7-4714-BE7A-9396C57D43E0}" srcOrd="0" destOrd="0" presId="urn:microsoft.com/office/officeart/2005/8/layout/lProcess3"/>
    <dgm:cxn modelId="{E24E0B7C-B46D-4857-9181-E4832B12591B}" type="presParOf" srcId="{03C00E42-25E2-49CD-B038-3063E6A54406}" destId="{D8573338-6C4A-4EC6-ABDA-1A9DBCAF03A1}" srcOrd="1" destOrd="0" presId="urn:microsoft.com/office/officeart/2005/8/layout/lProcess3"/>
    <dgm:cxn modelId="{257BEFE2-FD75-43BF-A93D-4F37CF269246}" type="presParOf" srcId="{03C00E42-25E2-49CD-B038-3063E6A54406}" destId="{7131C971-98FB-4949-ABAD-83565965E7E0}" srcOrd="2" destOrd="0" presId="urn:microsoft.com/office/officeart/2005/8/layout/lProcess3"/>
    <dgm:cxn modelId="{33134D37-2B56-4643-806B-913AE3B12445}" type="presParOf" srcId="{03C00E42-25E2-49CD-B038-3063E6A54406}" destId="{ACF2BE9D-C7CA-4534-9598-252FB3E3C9FB}" srcOrd="3" destOrd="0" presId="urn:microsoft.com/office/officeart/2005/8/layout/lProcess3"/>
    <dgm:cxn modelId="{1C36E9FE-9472-4637-9E1B-E0F74A70DDFE}" type="presParOf" srcId="{03C00E42-25E2-49CD-B038-3063E6A54406}" destId="{4B3DF3CD-DD59-413E-BA30-9299865116C4}" srcOrd="4" destOrd="0" presId="urn:microsoft.com/office/officeart/2005/8/layout/lProcess3"/>
    <dgm:cxn modelId="{A5FCBBC9-CE75-4637-ABA8-40522A948241}" type="presParOf" srcId="{03C00E42-25E2-49CD-B038-3063E6A54406}" destId="{593C47FE-740E-4110-AA6A-7CC8A82A1774}" srcOrd="5" destOrd="0" presId="urn:microsoft.com/office/officeart/2005/8/layout/lProcess3"/>
    <dgm:cxn modelId="{40782AB1-8E80-46A1-80FC-A024CE094DA5}" type="presParOf" srcId="{03C00E42-25E2-49CD-B038-3063E6A54406}" destId="{5EBB3ECC-6712-4FFD-9115-E3E636AE82C2}" srcOrd="6" destOrd="0" presId="urn:microsoft.com/office/officeart/2005/8/layout/lProcess3"/>
    <dgm:cxn modelId="{EBCA4E2D-81F6-4DCF-A088-F6383E7DB62A}" type="presParOf" srcId="{997B6072-88FB-4C85-AF0D-E6A1D6F647E1}" destId="{27FC3502-419A-467B-9302-6893075821BD}" srcOrd="9" destOrd="0" presId="urn:microsoft.com/office/officeart/2005/8/layout/lProcess3"/>
    <dgm:cxn modelId="{CEE6988B-1D98-483A-A6BA-EE0EC79E8604}" type="presParOf" srcId="{997B6072-88FB-4C85-AF0D-E6A1D6F647E1}" destId="{47FC8A73-DC56-44EB-922F-715FEF10065C}" srcOrd="10" destOrd="0" presId="urn:microsoft.com/office/officeart/2005/8/layout/lProcess3"/>
    <dgm:cxn modelId="{E521979F-2F7A-4636-8DAB-DC152461BAEB}" type="presParOf" srcId="{47FC8A73-DC56-44EB-922F-715FEF10065C}" destId="{4DD419E6-931F-48DE-BB2F-B857DC7CBA2E}" srcOrd="0" destOrd="0" presId="urn:microsoft.com/office/officeart/2005/8/layout/lProcess3"/>
    <dgm:cxn modelId="{D066F5CA-EE01-4A10-A484-9C47A673BB78}" type="presParOf" srcId="{47FC8A73-DC56-44EB-922F-715FEF10065C}" destId="{6BB6BF20-30AB-4545-A1A4-500D8DB34B08}" srcOrd="1" destOrd="0" presId="urn:microsoft.com/office/officeart/2005/8/layout/lProcess3"/>
    <dgm:cxn modelId="{28D38541-6FEC-4D7F-8289-AC6FC218AE68}" type="presParOf" srcId="{47FC8A73-DC56-44EB-922F-715FEF10065C}" destId="{ED91DBE9-AEEE-4DA5-8EE8-DB8FA0728639}" srcOrd="2" destOrd="0" presId="urn:microsoft.com/office/officeart/2005/8/layout/lProcess3"/>
    <dgm:cxn modelId="{D47DB80F-10CF-4A70-9BB6-75F7CFDD944F}" type="presParOf" srcId="{997B6072-88FB-4C85-AF0D-E6A1D6F647E1}" destId="{5BDAAB89-D30E-4F7B-BE11-6B3E506174B5}" srcOrd="11" destOrd="0" presId="urn:microsoft.com/office/officeart/2005/8/layout/lProcess3"/>
    <dgm:cxn modelId="{D415E3BB-BEFA-4C4B-8CC1-5CF9C291A4D1}" type="presParOf" srcId="{997B6072-88FB-4C85-AF0D-E6A1D6F647E1}" destId="{8CF5C7D0-18B5-4B67-81D6-2EE8F83D32BA}" srcOrd="12" destOrd="0" presId="urn:microsoft.com/office/officeart/2005/8/layout/lProcess3"/>
    <dgm:cxn modelId="{F80C6381-5EB1-4389-B339-E2076D7802A4}" type="presParOf" srcId="{8CF5C7D0-18B5-4B67-81D6-2EE8F83D32BA}" destId="{2597E699-EDC6-45F0-A78A-9E98B1C4BA58}" srcOrd="0" destOrd="0" presId="urn:microsoft.com/office/officeart/2005/8/layout/lProcess3"/>
    <dgm:cxn modelId="{BF09E405-17E6-4638-8E83-EB5C4DE1FC44}" type="presParOf" srcId="{8CF5C7D0-18B5-4B67-81D6-2EE8F83D32BA}" destId="{10553BF6-8DC8-410F-B491-B8D36994315E}" srcOrd="1" destOrd="0" presId="urn:microsoft.com/office/officeart/2005/8/layout/lProcess3"/>
    <dgm:cxn modelId="{8C996F38-0FD5-4382-B3A9-79D6A4FC2FC9}" type="presParOf" srcId="{8CF5C7D0-18B5-4B67-81D6-2EE8F83D32BA}" destId="{F4444316-2673-4772-9CDB-EC8914C188F4}" srcOrd="2" destOrd="0" presId="urn:microsoft.com/office/officeart/2005/8/layout/lProcess3"/>
    <dgm:cxn modelId="{0ADC2635-8F03-45E1-A60D-A692701135EC}" type="presParOf" srcId="{997B6072-88FB-4C85-AF0D-E6A1D6F647E1}" destId="{95C6C1C6-B423-406C-9F2E-9D6A8E2BF6AD}" srcOrd="13" destOrd="0" presId="urn:microsoft.com/office/officeart/2005/8/layout/lProcess3"/>
    <dgm:cxn modelId="{3269D98E-D804-4CF2-A6DF-5134D0E748EA}" type="presParOf" srcId="{997B6072-88FB-4C85-AF0D-E6A1D6F647E1}" destId="{046353AA-3C50-4236-9570-7C526944AA6D}" srcOrd="14" destOrd="0" presId="urn:microsoft.com/office/officeart/2005/8/layout/lProcess3"/>
    <dgm:cxn modelId="{81F55F07-A15D-4A80-AC30-4FCBE60E7F8E}" type="presParOf" srcId="{046353AA-3C50-4236-9570-7C526944AA6D}" destId="{5C29BC18-501B-479D-A4A4-C2D19BD018A1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8BADC8-BBCC-4CCE-8824-5412C7B6CA13}">
      <dsp:nvSpPr>
        <dsp:cNvPr id="0" name=""/>
        <dsp:cNvSpPr/>
      </dsp:nvSpPr>
      <dsp:spPr>
        <a:xfrm>
          <a:off x="2675435" y="783"/>
          <a:ext cx="1595649" cy="63825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Business Problem</a:t>
          </a:r>
        </a:p>
      </dsp:txBody>
      <dsp:txXfrm>
        <a:off x="2994565" y="783"/>
        <a:ext cx="957390" cy="638259"/>
      </dsp:txXfrm>
    </dsp:sp>
    <dsp:sp modelId="{38B48B37-F87C-4D2E-ABFA-561D6E2F1EFF}">
      <dsp:nvSpPr>
        <dsp:cNvPr id="0" name=""/>
        <dsp:cNvSpPr/>
      </dsp:nvSpPr>
      <dsp:spPr>
        <a:xfrm>
          <a:off x="2675435" y="728399"/>
          <a:ext cx="1595649" cy="63825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Objectives</a:t>
          </a:r>
          <a:endParaRPr lang="en-US" sz="1200" kern="1200">
            <a:latin typeface="Bierstadt"/>
          </a:endParaRPr>
        </a:p>
      </dsp:txBody>
      <dsp:txXfrm>
        <a:off x="2994565" y="728399"/>
        <a:ext cx="957390" cy="638259"/>
      </dsp:txXfrm>
    </dsp:sp>
    <dsp:sp modelId="{2E6BCF1B-9857-4BE1-93E5-CC0EAC515CE8}">
      <dsp:nvSpPr>
        <dsp:cNvPr id="0" name=""/>
        <dsp:cNvSpPr/>
      </dsp:nvSpPr>
      <dsp:spPr>
        <a:xfrm>
          <a:off x="2675435" y="1456016"/>
          <a:ext cx="1595649" cy="63825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Dataset</a:t>
          </a:r>
          <a:endParaRPr lang="en-US" sz="1200" kern="1200">
            <a:latin typeface="Bierstadt"/>
          </a:endParaRPr>
        </a:p>
      </dsp:txBody>
      <dsp:txXfrm>
        <a:off x="2994565" y="1456016"/>
        <a:ext cx="957390" cy="638259"/>
      </dsp:txXfrm>
    </dsp:sp>
    <dsp:sp modelId="{7B76B2FC-1EFC-45AA-8263-B14B8A1189A3}">
      <dsp:nvSpPr>
        <dsp:cNvPr id="0" name=""/>
        <dsp:cNvSpPr/>
      </dsp:nvSpPr>
      <dsp:spPr>
        <a:xfrm>
          <a:off x="2675435" y="2183632"/>
          <a:ext cx="1595649" cy="63825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Technology Stack</a:t>
          </a:r>
        </a:p>
      </dsp:txBody>
      <dsp:txXfrm>
        <a:off x="2994565" y="2183632"/>
        <a:ext cx="957390" cy="638259"/>
      </dsp:txXfrm>
    </dsp:sp>
    <dsp:sp modelId="{548AB61E-F3D7-4714-BE7A-9396C57D43E0}">
      <dsp:nvSpPr>
        <dsp:cNvPr id="0" name=""/>
        <dsp:cNvSpPr/>
      </dsp:nvSpPr>
      <dsp:spPr>
        <a:xfrm>
          <a:off x="2675435" y="2911248"/>
          <a:ext cx="1595649" cy="63825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ETL Architecture</a:t>
          </a:r>
          <a:endParaRPr lang="en-US" sz="1200" kern="1200">
            <a:latin typeface="Bierstadt"/>
          </a:endParaRPr>
        </a:p>
      </dsp:txBody>
      <dsp:txXfrm>
        <a:off x="2994565" y="2911248"/>
        <a:ext cx="957390" cy="638259"/>
      </dsp:txXfrm>
    </dsp:sp>
    <dsp:sp modelId="{7131C971-98FB-4949-ABAD-83565965E7E0}">
      <dsp:nvSpPr>
        <dsp:cNvPr id="0" name=""/>
        <dsp:cNvSpPr/>
      </dsp:nvSpPr>
      <dsp:spPr>
        <a:xfrm>
          <a:off x="4063651" y="2965500"/>
          <a:ext cx="1324389" cy="529755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ierstadt"/>
            </a:rPr>
            <a:t>Bronz layer</a:t>
          </a:r>
        </a:p>
      </dsp:txBody>
      <dsp:txXfrm>
        <a:off x="4328529" y="2965500"/>
        <a:ext cx="794634" cy="529755"/>
      </dsp:txXfrm>
    </dsp:sp>
    <dsp:sp modelId="{4B3DF3CD-DD59-413E-BA30-9299865116C4}">
      <dsp:nvSpPr>
        <dsp:cNvPr id="0" name=""/>
        <dsp:cNvSpPr/>
      </dsp:nvSpPr>
      <dsp:spPr>
        <a:xfrm>
          <a:off x="5202625" y="2965500"/>
          <a:ext cx="1324389" cy="529755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ierstadt"/>
            </a:rPr>
            <a:t>Silver layer </a:t>
          </a:r>
        </a:p>
      </dsp:txBody>
      <dsp:txXfrm>
        <a:off x="5467503" y="2965500"/>
        <a:ext cx="794634" cy="529755"/>
      </dsp:txXfrm>
    </dsp:sp>
    <dsp:sp modelId="{5EBB3ECC-6712-4FFD-9115-E3E636AE82C2}">
      <dsp:nvSpPr>
        <dsp:cNvPr id="0" name=""/>
        <dsp:cNvSpPr/>
      </dsp:nvSpPr>
      <dsp:spPr>
        <a:xfrm>
          <a:off x="6341600" y="2965500"/>
          <a:ext cx="1324389" cy="529755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ierstadt"/>
            </a:rPr>
            <a:t>Gold layer    </a:t>
          </a:r>
          <a:endParaRPr lang="en-US" sz="1700" kern="1200"/>
        </a:p>
      </dsp:txBody>
      <dsp:txXfrm>
        <a:off x="6606478" y="2965500"/>
        <a:ext cx="794634" cy="529755"/>
      </dsp:txXfrm>
    </dsp:sp>
    <dsp:sp modelId="{4DD419E6-931F-48DE-BB2F-B857DC7CBA2E}">
      <dsp:nvSpPr>
        <dsp:cNvPr id="0" name=""/>
        <dsp:cNvSpPr/>
      </dsp:nvSpPr>
      <dsp:spPr>
        <a:xfrm>
          <a:off x="2675435" y="3638864"/>
          <a:ext cx="1595649" cy="63825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Airflow</a:t>
          </a:r>
        </a:p>
      </dsp:txBody>
      <dsp:txXfrm>
        <a:off x="2994565" y="3638864"/>
        <a:ext cx="957390" cy="638259"/>
      </dsp:txXfrm>
    </dsp:sp>
    <dsp:sp modelId="{ED91DBE9-AEEE-4DA5-8EE8-DB8FA0728639}">
      <dsp:nvSpPr>
        <dsp:cNvPr id="0" name=""/>
        <dsp:cNvSpPr/>
      </dsp:nvSpPr>
      <dsp:spPr>
        <a:xfrm>
          <a:off x="4063651" y="3693117"/>
          <a:ext cx="1324389" cy="529755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ierstadt"/>
            </a:rPr>
            <a:t>SQLite</a:t>
          </a:r>
        </a:p>
      </dsp:txBody>
      <dsp:txXfrm>
        <a:off x="4328529" y="3693117"/>
        <a:ext cx="794634" cy="529755"/>
      </dsp:txXfrm>
    </dsp:sp>
    <dsp:sp modelId="{2597E699-EDC6-45F0-A78A-9E98B1C4BA58}">
      <dsp:nvSpPr>
        <dsp:cNvPr id="0" name=""/>
        <dsp:cNvSpPr/>
      </dsp:nvSpPr>
      <dsp:spPr>
        <a:xfrm>
          <a:off x="2675435" y="4366481"/>
          <a:ext cx="1595649" cy="63825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Dashboard</a:t>
          </a:r>
        </a:p>
      </dsp:txBody>
      <dsp:txXfrm>
        <a:off x="2994565" y="4366481"/>
        <a:ext cx="957390" cy="638259"/>
      </dsp:txXfrm>
    </dsp:sp>
    <dsp:sp modelId="{F4444316-2673-4772-9CDB-EC8914C188F4}">
      <dsp:nvSpPr>
        <dsp:cNvPr id="0" name=""/>
        <dsp:cNvSpPr/>
      </dsp:nvSpPr>
      <dsp:spPr>
        <a:xfrm>
          <a:off x="4063651" y="4420733"/>
          <a:ext cx="1324389" cy="529755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ierstadt"/>
            </a:rPr>
            <a:t>Insights</a:t>
          </a:r>
        </a:p>
      </dsp:txBody>
      <dsp:txXfrm>
        <a:off x="4328529" y="4420733"/>
        <a:ext cx="794634" cy="529755"/>
      </dsp:txXfrm>
    </dsp:sp>
    <dsp:sp modelId="{5C29BC18-501B-479D-A4A4-C2D19BD018A1}">
      <dsp:nvSpPr>
        <dsp:cNvPr id="0" name=""/>
        <dsp:cNvSpPr/>
      </dsp:nvSpPr>
      <dsp:spPr>
        <a:xfrm>
          <a:off x="2675435" y="5094097"/>
          <a:ext cx="1595649" cy="63825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ierstadt"/>
            </a:rPr>
            <a:t>Conclusion</a:t>
          </a:r>
        </a:p>
      </dsp:txBody>
      <dsp:txXfrm>
        <a:off x="2994565" y="5094097"/>
        <a:ext cx="957390" cy="638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47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0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1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0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17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5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9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2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60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005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878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72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9601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2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188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80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95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  <p:sldLayoutId id="2147484008" r:id="rId15"/>
    <p:sldLayoutId id="2147484009" r:id="rId16"/>
    <p:sldLayoutId id="21474840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svg"/><Relationship Id="rId12" Type="http://schemas.openxmlformats.org/officeDocument/2006/relationships/image" Target="../media/image9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8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sv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0474-0DB7-C455-467E-E5521ED35C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7888" y="754063"/>
            <a:ext cx="11314112" cy="1460500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3600">
              <a:solidFill>
                <a:schemeClr val="bg1"/>
              </a:solidFill>
              <a:latin typeface="Aptos Display"/>
            </a:endParaRPr>
          </a:p>
          <a:p>
            <a:pPr algn="ctr"/>
            <a:r>
              <a:rPr lang="en-US" sz="360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E-Commerce Order Fulfilment Data Platform</a:t>
            </a:r>
            <a:endParaRPr lang="en-US" sz="36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8D148-3AE4-0C9A-DDF7-2F1A8A125B4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4925" y="2444750"/>
            <a:ext cx="12157075" cy="66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>
                <a:solidFill>
                  <a:schemeClr val="bg1"/>
                </a:solidFill>
                <a:latin typeface="Aptos"/>
                <a:ea typeface="+mn-lt"/>
                <a:cs typeface="+mn-lt"/>
              </a:rPr>
              <a:t>End-to-End Data Engineering Pipeline using Python, SQLite, Apache Airflow and Power BI</a:t>
            </a:r>
            <a:endParaRPr lang="en-US">
              <a:solidFill>
                <a:schemeClr val="bg1"/>
              </a:solidFill>
              <a:latin typeface="Aptos"/>
            </a:endParaRPr>
          </a:p>
        </p:txBody>
      </p:sp>
      <p:pic>
        <p:nvPicPr>
          <p:cNvPr id="9" name="Graphic 8" descr="Shopping cart with solid fill">
            <a:extLst>
              <a:ext uri="{FF2B5EF4-FFF2-40B4-BE49-F238E27FC236}">
                <a16:creationId xmlns:a16="http://schemas.microsoft.com/office/drawing/2014/main" id="{EDC9034E-DF8F-7BE6-13D4-9E6CCE657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2401" y="1259114"/>
            <a:ext cx="587829" cy="682172"/>
          </a:xfrm>
          <a:prstGeom prst="rect">
            <a:avLst/>
          </a:prstGeom>
        </p:spPr>
      </p:pic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E9C2A378-EDF3-F94E-92CD-CE73A7509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285" y="2565400"/>
            <a:ext cx="428172" cy="435429"/>
          </a:xfrm>
          <a:prstGeom prst="rect">
            <a:avLst/>
          </a:prstGeom>
        </p:spPr>
      </p:pic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F2987E72-52CC-54C7-8D0F-EC4783D29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0800" y="2427514"/>
            <a:ext cx="587829" cy="5660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878CD8-26C3-6563-57F8-1D134858D711}"/>
              </a:ext>
            </a:extLst>
          </p:cNvPr>
          <p:cNvSpPr txBox="1"/>
          <p:nvPr/>
        </p:nvSpPr>
        <p:spPr>
          <a:xfrm>
            <a:off x="291883" y="4817039"/>
            <a:ext cx="111951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Presented By: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SHASHIKANTH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Post Graduate Program in Data Science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(Data Engineering)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Hero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Vired</a:t>
            </a:r>
            <a:endParaRPr lang="en-US" err="1">
              <a:solidFill>
                <a:schemeClr val="bg1"/>
              </a:solidFill>
            </a:endParaRPr>
          </a:p>
        </p:txBody>
      </p:sp>
      <p:pic>
        <p:nvPicPr>
          <p:cNvPr id="19" name="Picture 18" descr="9 Nopaperforms Jobs in India: Latest Nopaperforms Jobs Vacancies 18 ...">
            <a:extLst>
              <a:ext uri="{FF2B5EF4-FFF2-40B4-BE49-F238E27FC236}">
                <a16:creationId xmlns:a16="http://schemas.microsoft.com/office/drawing/2014/main" id="{8BABB54D-3283-FB66-E562-C29E2481C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8207" y="4817836"/>
            <a:ext cx="1917700" cy="19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8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DD71839-79A6-9EFC-69FA-7EDD5CAD9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559566"/>
              </p:ext>
            </p:extLst>
          </p:nvPr>
        </p:nvGraphicFramePr>
        <p:xfrm>
          <a:off x="-740227" y="1128487"/>
          <a:ext cx="10341426" cy="5733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2" name="TextBox 321">
            <a:extLst>
              <a:ext uri="{FF2B5EF4-FFF2-40B4-BE49-F238E27FC236}">
                <a16:creationId xmlns:a16="http://schemas.microsoft.com/office/drawing/2014/main" id="{334F556D-646F-EE6A-60A3-863DDE6F12A8}"/>
              </a:ext>
            </a:extLst>
          </p:cNvPr>
          <p:cNvSpPr txBox="1"/>
          <p:nvPr/>
        </p:nvSpPr>
        <p:spPr>
          <a:xfrm>
            <a:off x="3257088" y="483042"/>
            <a:ext cx="2174278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ea typeface="+mn-lt"/>
                <a:cs typeface="+mn-lt"/>
              </a:rPr>
              <a:t>AGENDA</a:t>
            </a:r>
            <a:endParaRPr lang="en-US" sz="3600" b="1"/>
          </a:p>
        </p:txBody>
      </p:sp>
      <p:pic>
        <p:nvPicPr>
          <p:cNvPr id="356" name="Graphic 355" descr="Checklist with solid fill">
            <a:extLst>
              <a:ext uri="{FF2B5EF4-FFF2-40B4-BE49-F238E27FC236}">
                <a16:creationId xmlns:a16="http://schemas.microsoft.com/office/drawing/2014/main" id="{51C0A7FD-C2AB-5EF3-DC01-B8338D103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9656" y="1259113"/>
            <a:ext cx="449944" cy="457201"/>
          </a:xfrm>
          <a:prstGeom prst="rect">
            <a:avLst/>
          </a:prstGeom>
        </p:spPr>
      </p:pic>
      <p:pic>
        <p:nvPicPr>
          <p:cNvPr id="357" name="Graphic 356" descr="Bullseye with solid fill">
            <a:extLst>
              <a:ext uri="{FF2B5EF4-FFF2-40B4-BE49-F238E27FC236}">
                <a16:creationId xmlns:a16="http://schemas.microsoft.com/office/drawing/2014/main" id="{92AE9F26-6B40-5095-E350-DA9032B7E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9656" y="1992084"/>
            <a:ext cx="449944" cy="449945"/>
          </a:xfrm>
          <a:prstGeom prst="rect">
            <a:avLst/>
          </a:prstGeom>
        </p:spPr>
      </p:pic>
      <p:pic>
        <p:nvPicPr>
          <p:cNvPr id="358" name="Graphic 357" descr="Tools with solid fill">
            <a:extLst>
              <a:ext uri="{FF2B5EF4-FFF2-40B4-BE49-F238E27FC236}">
                <a16:creationId xmlns:a16="http://schemas.microsoft.com/office/drawing/2014/main" id="{0148F398-214D-4BF9-0357-433D35443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9656" y="3421743"/>
            <a:ext cx="435429" cy="413658"/>
          </a:xfrm>
          <a:prstGeom prst="rect">
            <a:avLst/>
          </a:prstGeom>
        </p:spPr>
      </p:pic>
      <p:pic>
        <p:nvPicPr>
          <p:cNvPr id="359" name="Graphic 358" descr="Database with solid fill">
            <a:extLst>
              <a:ext uri="{FF2B5EF4-FFF2-40B4-BE49-F238E27FC236}">
                <a16:creationId xmlns:a16="http://schemas.microsoft.com/office/drawing/2014/main" id="{C44FDAEA-C764-ADF7-694F-B61F79A16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9657" y="2667000"/>
            <a:ext cx="449943" cy="449943"/>
          </a:xfrm>
          <a:prstGeom prst="rect">
            <a:avLst/>
          </a:prstGeom>
        </p:spPr>
      </p:pic>
      <p:pic>
        <p:nvPicPr>
          <p:cNvPr id="468" name="Graphic 467" descr="Braille with solid fill">
            <a:extLst>
              <a:ext uri="{FF2B5EF4-FFF2-40B4-BE49-F238E27FC236}">
                <a16:creationId xmlns:a16="http://schemas.microsoft.com/office/drawing/2014/main" id="{83BFCEAA-25C0-4D43-1507-DA439050C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3995057"/>
            <a:ext cx="747486" cy="732972"/>
          </a:xfrm>
          <a:prstGeom prst="rect">
            <a:avLst/>
          </a:prstGeom>
        </p:spPr>
      </p:pic>
      <p:pic>
        <p:nvPicPr>
          <p:cNvPr id="469" name="Graphic 468" descr="Arrow circle with solid fill">
            <a:extLst>
              <a:ext uri="{FF2B5EF4-FFF2-40B4-BE49-F238E27FC236}">
                <a16:creationId xmlns:a16="http://schemas.microsoft.com/office/drawing/2014/main" id="{8C06721F-8275-1E32-2AD5-B6D05C6B6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9657" y="4858657"/>
            <a:ext cx="493486" cy="471715"/>
          </a:xfrm>
          <a:prstGeom prst="rect">
            <a:avLst/>
          </a:prstGeom>
        </p:spPr>
      </p:pic>
      <p:pic>
        <p:nvPicPr>
          <p:cNvPr id="470" name="Graphic 469" descr="Bar chart with solid fill">
            <a:extLst>
              <a:ext uri="{FF2B5EF4-FFF2-40B4-BE49-F238E27FC236}">
                <a16:creationId xmlns:a16="http://schemas.microsoft.com/office/drawing/2014/main" id="{A6C04E64-964B-2F2C-E736-D9C3039E0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29657" y="5497286"/>
            <a:ext cx="500743" cy="478972"/>
          </a:xfrm>
          <a:prstGeom prst="rect">
            <a:avLst/>
          </a:prstGeom>
        </p:spPr>
      </p:pic>
      <p:pic>
        <p:nvPicPr>
          <p:cNvPr id="471" name="Graphic 470" descr="Checkmark with solid fill">
            <a:extLst>
              <a:ext uri="{FF2B5EF4-FFF2-40B4-BE49-F238E27FC236}">
                <a16:creationId xmlns:a16="http://schemas.microsoft.com/office/drawing/2014/main" id="{81AB957D-9650-E261-DFB1-2491A1ACD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02227" y="6375400"/>
            <a:ext cx="377372" cy="3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4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58F9EF-2EF0-55F1-CAF3-E34621D618F0}"/>
              </a:ext>
            </a:extLst>
          </p:cNvPr>
          <p:cNvSpPr txBox="1"/>
          <p:nvPr/>
        </p:nvSpPr>
        <p:spPr>
          <a:xfrm>
            <a:off x="165614" y="193217"/>
            <a:ext cx="119104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ea typeface="+mn-lt"/>
                <a:cs typeface="+mn-lt"/>
              </a:rPr>
              <a:t>BUSINESS PROBLEM</a:t>
            </a:r>
            <a:endParaRPr lang="en-US" sz="3600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7BB46-B774-6EBD-AF98-40A6BAE9BCD7}"/>
              </a:ext>
            </a:extLst>
          </p:cNvPr>
          <p:cNvSpPr txBox="1"/>
          <p:nvPr/>
        </p:nvSpPr>
        <p:spPr>
          <a:xfrm>
            <a:off x="386434" y="1297314"/>
            <a:ext cx="910880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🗂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️ Multiple CSV Files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📊 Manual Reporting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📦 Order Tracking Challenges</a:t>
            </a:r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🚚 Delivery Monitoring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😊 Customer Satisfaction Analysis</a:t>
            </a:r>
            <a:endParaRPr lang="en-US" sz="2400">
              <a:solidFill>
                <a:schemeClr val="bg1"/>
              </a:solidFill>
            </a:endParaRPr>
          </a:p>
          <a:p>
            <a:pPr algn="l"/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319BF-92D1-2F52-E979-24DB13E81DDA}"/>
              </a:ext>
            </a:extLst>
          </p:cNvPr>
          <p:cNvSpPr txBox="1"/>
          <p:nvPr/>
        </p:nvSpPr>
        <p:spPr>
          <a:xfrm>
            <a:off x="483042" y="5111571"/>
            <a:ext cx="1158694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Goal: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Build an automated ETL pipeline to transform raw e-commerce data into analytics-ready insights.</a:t>
            </a:r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68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9015-325D-1647-7384-7C274E9AA18F}"/>
              </a:ext>
            </a:extLst>
          </p:cNvPr>
          <p:cNvSpPr txBox="1"/>
          <p:nvPr/>
        </p:nvSpPr>
        <p:spPr>
          <a:xfrm>
            <a:off x="521208" y="971151"/>
            <a:ext cx="3789534" cy="331102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B7B194-8199-5A5F-829D-9A10CBEE7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49062"/>
              </p:ext>
            </p:extLst>
          </p:nvPr>
        </p:nvGraphicFramePr>
        <p:xfrm>
          <a:off x="6466114" y="181428"/>
          <a:ext cx="4852044" cy="6294049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893757">
                  <a:extLst>
                    <a:ext uri="{9D8B030D-6E8A-4147-A177-3AD203B41FA5}">
                      <a16:colId xmlns:a16="http://schemas.microsoft.com/office/drawing/2014/main" val="1797562870"/>
                    </a:ext>
                  </a:extLst>
                </a:gridCol>
                <a:gridCol w="1140575">
                  <a:extLst>
                    <a:ext uri="{9D8B030D-6E8A-4147-A177-3AD203B41FA5}">
                      <a16:colId xmlns:a16="http://schemas.microsoft.com/office/drawing/2014/main" val="1534770575"/>
                    </a:ext>
                  </a:extLst>
                </a:gridCol>
                <a:gridCol w="2817712">
                  <a:extLst>
                    <a:ext uri="{9D8B030D-6E8A-4147-A177-3AD203B41FA5}">
                      <a16:colId xmlns:a16="http://schemas.microsoft.com/office/drawing/2014/main" val="1981618371"/>
                    </a:ext>
                  </a:extLst>
                </a:gridCol>
              </a:tblGrid>
              <a:tr h="71082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55649" marB="15564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55649" marB="15564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55649" marB="155649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61852"/>
                  </a:ext>
                </a:extLst>
              </a:tr>
              <a:tr h="76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📥</a:t>
                      </a:r>
                    </a:p>
                  </a:txBody>
                  <a:tcPr marL="285357" marR="285357" marT="142678" marB="15564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Data Ingestion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604657"/>
                  </a:ext>
                </a:extLst>
              </a:tr>
              <a:tr h="76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🧹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Data Cleaning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277736"/>
                  </a:ext>
                </a:extLst>
              </a:tr>
              <a:tr h="109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🏗️</a:t>
                      </a:r>
                    </a:p>
                  </a:txBody>
                  <a:tcPr marL="285357" marR="285357" marT="142678" marB="15564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Gold Layer Creation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71131"/>
                  </a:ext>
                </a:extLst>
              </a:tr>
              <a:tr h="109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⚙️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Airflow Automation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68890"/>
                  </a:ext>
                </a:extLst>
              </a:tr>
              <a:tr h="76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🗄️</a:t>
                      </a:r>
                    </a:p>
                  </a:txBody>
                  <a:tcPr marL="285357" marR="285357" marT="142678" marB="15564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SQLite Storage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25884"/>
                  </a:ext>
                </a:extLst>
              </a:tr>
              <a:tr h="109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📈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85357" marR="285357" marT="142677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Power BI Dashboard</a:t>
                      </a:r>
                    </a:p>
                  </a:txBody>
                  <a:tcPr marL="285357" marR="285357" marT="142678" marB="1556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053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10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915665-DA4E-CD71-85AB-899956BC1FF9}"/>
              </a:ext>
            </a:extLst>
          </p:cNvPr>
          <p:cNvSpPr txBox="1"/>
          <p:nvPr/>
        </p:nvSpPr>
        <p:spPr>
          <a:xfrm>
            <a:off x="55204" y="138012"/>
            <a:ext cx="120346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ea typeface="+mn-lt"/>
                <a:cs typeface="+mn-lt"/>
              </a:rPr>
              <a:t>📂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b="1">
                <a:solidFill>
                  <a:schemeClr val="bg1"/>
                </a:solidFill>
                <a:ea typeface="+mn-lt"/>
                <a:cs typeface="+mn-lt"/>
              </a:rPr>
              <a:t>Dataset Overview</a:t>
            </a:r>
            <a:endParaRPr lang="en-US" sz="3600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F92AB-013E-0704-BFA8-079BC2E28D65}"/>
              </a:ext>
            </a:extLst>
          </p:cNvPr>
          <p:cNvSpPr txBox="1"/>
          <p:nvPr/>
        </p:nvSpPr>
        <p:spPr>
          <a:xfrm>
            <a:off x="400235" y="1131700"/>
            <a:ext cx="11413610" cy="5934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AAB40-F98E-D698-90B4-5A607ED356AC}"/>
              </a:ext>
            </a:extLst>
          </p:cNvPr>
          <p:cNvSpPr txBox="1"/>
          <p:nvPr/>
        </p:nvSpPr>
        <p:spPr>
          <a:xfrm>
            <a:off x="82807" y="1186904"/>
            <a:ext cx="11344604" cy="1669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F5210-37D5-7326-7BB6-2C0F9183D8C5}"/>
              </a:ext>
            </a:extLst>
          </p:cNvPr>
          <p:cNvSpPr txBox="1"/>
          <p:nvPr/>
        </p:nvSpPr>
        <p:spPr>
          <a:xfrm>
            <a:off x="102440" y="951111"/>
            <a:ext cx="116786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Source: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Olist</a:t>
            </a:r>
            <a:r>
              <a:rPr lang="en-US" sz="2400" dirty="0">
                <a:solidFill>
                  <a:schemeClr val="bg1"/>
                </a:solidFill>
              </a:rPr>
              <a:t> Brazilian E-Commerce Dataset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72D83-AF94-D9CA-98BF-5D36039F7B8F}"/>
              </a:ext>
            </a:extLst>
          </p:cNvPr>
          <p:cNvSpPr txBox="1"/>
          <p:nvPr/>
        </p:nvSpPr>
        <p:spPr>
          <a:xfrm>
            <a:off x="406906" y="1554346"/>
            <a:ext cx="11409789" cy="264687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📦 Orders              👤 Customers                 🛍 Products 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    99,441                      99,441                                32,951 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 💳 Payments         ⭐ Reviews                       🏪 Sellers 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    103,886                       99,224                                 3,095</a:t>
            </a: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sz="28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E7A52-8A0C-7596-477A-5CB2D110C4C4}"/>
              </a:ext>
            </a:extLst>
          </p:cNvPr>
          <p:cNvSpPr txBox="1"/>
          <p:nvPr/>
        </p:nvSpPr>
        <p:spPr>
          <a:xfrm>
            <a:off x="303626" y="4402590"/>
            <a:ext cx="1156542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📁 Tables Used: 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</a:t>
            </a:r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•Orders 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Customers 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 Products 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•Payments 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Reviews 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Sellers 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Order Items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556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B9031-3758-3B5F-A602-B69B33BA9487}"/>
              </a:ext>
            </a:extLst>
          </p:cNvPr>
          <p:cNvSpPr txBox="1"/>
          <p:nvPr/>
        </p:nvSpPr>
        <p:spPr>
          <a:xfrm>
            <a:off x="110409" y="96608"/>
            <a:ext cx="120346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ea typeface="+mn-lt"/>
                <a:cs typeface="+mn-lt"/>
              </a:rPr>
              <a:t>TECHNOLOGY STACK</a:t>
            </a:r>
            <a:endParaRPr lang="en-US" sz="36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EDBA4-3C10-021C-AEC3-27D480A6421D}"/>
              </a:ext>
            </a:extLst>
          </p:cNvPr>
          <p:cNvSpPr txBox="1"/>
          <p:nvPr/>
        </p:nvSpPr>
        <p:spPr>
          <a:xfrm>
            <a:off x="-713" y="1302179"/>
            <a:ext cx="12199312" cy="55652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🐍 Python -</a:t>
            </a:r>
            <a:r>
              <a:rPr lang="en-US" sz="2000">
                <a:solidFill>
                  <a:schemeClr val="bg1"/>
                </a:solidFill>
              </a:rPr>
              <a:t> ETL Development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↓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🐼 Pandas - </a:t>
            </a:r>
            <a:r>
              <a:rPr lang="en-US" sz="2000">
                <a:solidFill>
                  <a:schemeClr val="bg1"/>
                </a:solidFill>
              </a:rPr>
              <a:t>Data Cleaning &amp; Transformation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↓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🗄️ SQLite - </a:t>
            </a:r>
            <a:r>
              <a:rPr lang="en-US" sz="2000">
                <a:solidFill>
                  <a:schemeClr val="bg1"/>
                </a:solidFill>
              </a:rPr>
              <a:t>Data Storage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↓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🌬️ Apache Airflow - </a:t>
            </a:r>
            <a:r>
              <a:rPr lang="en-US" sz="2000">
                <a:solidFill>
                  <a:schemeClr val="bg1"/>
                </a:solidFill>
              </a:rPr>
              <a:t>Workflow Orchestration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↓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📊 Power BI - </a:t>
            </a:r>
            <a:r>
              <a:rPr lang="en-US" sz="2000">
                <a:solidFill>
                  <a:schemeClr val="bg1"/>
                </a:solidFill>
              </a:rPr>
              <a:t>Dashboard &amp; Analytics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↓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🐙 GitHub - Version Control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CC42D-CB32-4524-F785-0F929E703182}"/>
              </a:ext>
            </a:extLst>
          </p:cNvPr>
          <p:cNvSpPr txBox="1"/>
          <p:nvPr/>
        </p:nvSpPr>
        <p:spPr>
          <a:xfrm>
            <a:off x="195356" y="95103"/>
            <a:ext cx="1155660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            Tools and Technologies Used Throughout the ETL Pipeline</a:t>
            </a:r>
          </a:p>
        </p:txBody>
      </p:sp>
    </p:spTree>
    <p:extLst>
      <p:ext uri="{BB962C8B-B14F-4D97-AF65-F5344CB8AC3E}">
        <p14:creationId xmlns:p14="http://schemas.microsoft.com/office/powerpoint/2010/main" val="307994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A35FA-7EE5-E62D-0EB1-698D83357885}"/>
              </a:ext>
            </a:extLst>
          </p:cNvPr>
          <p:cNvSpPr txBox="1"/>
          <p:nvPr/>
        </p:nvSpPr>
        <p:spPr>
          <a:xfrm>
            <a:off x="27602" y="55204"/>
            <a:ext cx="120898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Project Architecture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18049-8A5F-2FE4-5A55-99777EE6E2F3}"/>
              </a:ext>
            </a:extLst>
          </p:cNvPr>
          <p:cNvSpPr txBox="1"/>
          <p:nvPr/>
        </p:nvSpPr>
        <p:spPr>
          <a:xfrm>
            <a:off x="54492" y="535647"/>
            <a:ext cx="1208987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📂Raw CSV Data 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🟫 Bronze Layer 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🧹Silver Layer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🥇Gold Layer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🗄️ SQLite DB 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🌬️Apache Airflow      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│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▼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📊Power BI Dashboard </a:t>
            </a:r>
            <a:r>
              <a:rPr lang="en-US" dirty="0">
                <a:ea typeface="+mn-lt"/>
                <a:cs typeface="+mn-lt"/>
              </a:rPr>
              <a:t> 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6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252511-E635-F45A-A6CD-0576E44B248F}"/>
              </a:ext>
            </a:extLst>
          </p:cNvPr>
          <p:cNvSpPr txBox="1"/>
          <p:nvPr/>
        </p:nvSpPr>
        <p:spPr>
          <a:xfrm>
            <a:off x="262222" y="151813"/>
            <a:ext cx="1185524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/>
              <a:t>BRONZE LAYER</a:t>
            </a:r>
            <a:endParaRPr lang="en-US"/>
          </a:p>
          <a:p>
            <a:pPr algn="ctr"/>
            <a:r>
              <a:rPr lang="en-US" sz="2400">
                <a:ea typeface="+mn-lt"/>
                <a:cs typeface="+mn-lt"/>
              </a:rPr>
              <a:t>Raw Data Ingestion &amp; Storage Layer </a:t>
            </a:r>
            <a:endParaRPr lang="en-US"/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E3554-E252-3F06-11B1-476C2640721F}"/>
              </a:ext>
            </a:extLst>
          </p:cNvPr>
          <p:cNvSpPr txBox="1"/>
          <p:nvPr/>
        </p:nvSpPr>
        <p:spPr>
          <a:xfrm>
            <a:off x="48786" y="1202384"/>
            <a:ext cx="12089870" cy="132343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📂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 Raw CSV Files</a:t>
            </a:r>
            <a:endParaRPr lang="en-US" sz="2000"/>
          </a:p>
          <a:p>
            <a:pPr>
              <a:spcBef>
                <a:spcPct val="0"/>
              </a:spcBef>
            </a:pPr>
            <a:r>
              <a:rPr lang="en-US" sz="2000">
                <a:ea typeface="+mn-lt"/>
                <a:cs typeface="+mn-lt"/>
              </a:rPr>
              <a:t> (Orders, Customers, Products,                                                                                        🗄️ Bronze Layer</a:t>
            </a:r>
          </a:p>
          <a:p>
            <a:r>
              <a:rPr lang="en-US" sz="2000">
                <a:ea typeface="+mn-lt"/>
                <a:cs typeface="+mn-lt"/>
              </a:rPr>
              <a:t>Payments, Reviews, Items, Seller)</a:t>
            </a:r>
            <a:endParaRPr lang="en-US" sz="200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FC1D35F-522E-E412-443E-2B4EC0F2074A}"/>
              </a:ext>
            </a:extLst>
          </p:cNvPr>
          <p:cNvSpPr/>
          <p:nvPr/>
        </p:nvSpPr>
        <p:spPr>
          <a:xfrm>
            <a:off x="5203141" y="1865431"/>
            <a:ext cx="1297314" cy="248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088B0-29FB-45D1-F854-0F6B6F3F9987}"/>
              </a:ext>
            </a:extLst>
          </p:cNvPr>
          <p:cNvSpPr txBox="1"/>
          <p:nvPr/>
        </p:nvSpPr>
        <p:spPr>
          <a:xfrm>
            <a:off x="106004" y="3080985"/>
            <a:ext cx="12034665" cy="307776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b="1"/>
          </a:p>
          <a:p>
            <a:r>
              <a:rPr lang="en-US" sz="2200" b="1">
                <a:ea typeface="+mn-lt"/>
                <a:cs typeface="+mn-lt"/>
              </a:rPr>
              <a:t>🎯 Purpose                                                                                     ⚙️ Key Activities</a:t>
            </a:r>
            <a:endParaRPr lang="en-US" sz="2200" b="1"/>
          </a:p>
          <a:p>
            <a:endParaRPr lang="en-US" sz="2200"/>
          </a:p>
          <a:p>
            <a:r>
              <a:rPr lang="en-US" sz="2200">
                <a:ea typeface="+mn-lt"/>
                <a:cs typeface="+mn-lt"/>
              </a:rPr>
              <a:t>📦 Store Raw Data                                                                                  📥 Raw CSV Ingestion</a:t>
            </a:r>
            <a:endParaRPr lang="en-US" sz="2200"/>
          </a:p>
          <a:p>
            <a:endParaRPr lang="en-US" sz="2200"/>
          </a:p>
          <a:p>
            <a:r>
              <a:rPr lang="en-US" sz="2200">
                <a:ea typeface="+mn-lt"/>
                <a:cs typeface="+mn-lt"/>
              </a:rPr>
              <a:t>🔒 Preserve Original Data                                                                       📂 Historical Storage</a:t>
            </a:r>
            <a:endParaRPr lang="en-US" sz="2200"/>
          </a:p>
          <a:p>
            <a:endParaRPr lang="en-US" sz="2200"/>
          </a:p>
          <a:p>
            <a:r>
              <a:rPr lang="en-US" sz="2200">
                <a:ea typeface="+mn-lt"/>
                <a:cs typeface="+mn-lt"/>
              </a:rPr>
              <a:t>📝 No Data Modification                                                                         ✅ Source Integrity</a:t>
            </a: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0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EB2CA-A47C-3B34-AD32-47C6B7E7CEFA}"/>
              </a:ext>
            </a:extLst>
          </p:cNvPr>
          <p:cNvSpPr txBox="1"/>
          <p:nvPr/>
        </p:nvSpPr>
        <p:spPr>
          <a:xfrm>
            <a:off x="110409" y="151813"/>
            <a:ext cx="1170343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/>
              <a:t>SILVER LAYER</a:t>
            </a:r>
          </a:p>
          <a:p>
            <a:pPr algn="ctr"/>
            <a:r>
              <a:rPr lang="en-US" sz="2400">
                <a:ea typeface="+mn-lt"/>
                <a:cs typeface="+mn-lt"/>
              </a:rPr>
              <a:t>(Data Cleaning, Transformation &amp; Validation)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2468-2534-5064-5372-4F1D1F9A5F49}"/>
              </a:ext>
            </a:extLst>
          </p:cNvPr>
          <p:cNvSpPr txBox="1"/>
          <p:nvPr/>
        </p:nvSpPr>
        <p:spPr>
          <a:xfrm>
            <a:off x="107558" y="1350128"/>
            <a:ext cx="11912592" cy="92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🗄</a:t>
            </a:r>
            <a:r>
              <a:rPr lang="en-US" sz="2000">
                <a:ea typeface="+mn-lt"/>
                <a:cs typeface="+mn-lt"/>
              </a:rPr>
              <a:t>️ Bronze Layer </a:t>
            </a:r>
            <a:r>
              <a:rPr lang="en-US">
                <a:ea typeface="+mn-lt"/>
                <a:cs typeface="+mn-lt"/>
              </a:rPr>
              <a:t>                </a:t>
            </a:r>
            <a:r>
              <a:rPr lang="en-US" sz="2000">
                <a:ea typeface="+mn-lt"/>
                <a:cs typeface="+mn-lt"/>
              </a:rPr>
              <a:t>🧹 Cleaning Process  </a:t>
            </a:r>
            <a:r>
              <a:rPr lang="en-US">
                <a:ea typeface="+mn-lt"/>
                <a:cs typeface="+mn-lt"/>
              </a:rPr>
              <a:t>                   </a:t>
            </a:r>
            <a:r>
              <a:rPr lang="en-US" sz="2000">
                <a:ea typeface="+mn-lt"/>
                <a:cs typeface="+mn-lt"/>
              </a:rPr>
              <a:t>🩶 Silver Layer</a:t>
            </a:r>
            <a:endParaRPr lang="en-US" sz="20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8684EEF-10E1-4D5D-1836-7E429962CD0B}"/>
              </a:ext>
            </a:extLst>
          </p:cNvPr>
          <p:cNvCxnSpPr/>
          <p:nvPr/>
        </p:nvCxnSpPr>
        <p:spPr>
          <a:xfrm flipV="1">
            <a:off x="4120263" y="1550554"/>
            <a:ext cx="548458" cy="36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5114CD-7BBB-3548-47E7-728B5F2F4C52}"/>
              </a:ext>
            </a:extLst>
          </p:cNvPr>
          <p:cNvCxnSpPr/>
          <p:nvPr/>
        </p:nvCxnSpPr>
        <p:spPr>
          <a:xfrm>
            <a:off x="7834298" y="1557858"/>
            <a:ext cx="459005" cy="36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C0DE45-264D-51CA-6C8A-AAE128AA3B22}"/>
              </a:ext>
            </a:extLst>
          </p:cNvPr>
          <p:cNvSpPr txBox="1"/>
          <p:nvPr/>
        </p:nvSpPr>
        <p:spPr>
          <a:xfrm>
            <a:off x="1111182" y="2361895"/>
            <a:ext cx="9700591" cy="28007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🎯 Purpose                                                                 ⚙️ Key Activities</a:t>
            </a:r>
            <a:endParaRPr lang="en-US" sz="2000" b="1"/>
          </a:p>
          <a:p>
            <a:endParaRPr lang="en-US" sz="1600"/>
          </a:p>
          <a:p>
            <a:r>
              <a:rPr lang="en-US" sz="2000">
                <a:ea typeface="+mn-lt"/>
                <a:cs typeface="+mn-lt"/>
              </a:rPr>
              <a:t>🧹 Clean Data                                                              ❌ Remove Duplicates</a:t>
            </a:r>
            <a:endParaRPr lang="en-US" sz="200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✔️ Improve Quality                                                     🔄 Convert Timestamps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📊 Standardize Data                                                  🚫 Handle Missing </a:t>
            </a:r>
            <a:r>
              <a:rPr lang="en-US" sz="2000" dirty="0">
                <a:ea typeface="+mn-lt"/>
                <a:cs typeface="+mn-lt"/>
              </a:rPr>
              <a:t>Values</a:t>
            </a:r>
            <a:endParaRPr lang="en-US" sz="2000" dirty="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🛡️ Validate Records                                                    ✅ Data Validation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D9638-99E7-CE1D-7FCB-B9289DA63DEC}"/>
              </a:ext>
            </a:extLst>
          </p:cNvPr>
          <p:cNvSpPr txBox="1"/>
          <p:nvPr/>
        </p:nvSpPr>
        <p:spPr>
          <a:xfrm>
            <a:off x="-138141" y="6070657"/>
            <a:ext cx="123336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ea typeface="+mn-lt"/>
                <a:cs typeface="+mn-lt"/>
              </a:rPr>
              <a:t>💡 Clean, validated and standardized datasets are prepared  for creating Gold Layer </a:t>
            </a:r>
            <a:endParaRPr lang="en-US"/>
          </a:p>
          <a:p>
            <a:pPr algn="ctr"/>
            <a:r>
              <a:rPr lang="en-US" sz="2000">
                <a:ea typeface="+mn-lt"/>
                <a:cs typeface="+mn-lt"/>
              </a:rPr>
              <a:t>analytical tables.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273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ACC13-9E7C-A985-38DC-A76B4136B233}"/>
              </a:ext>
            </a:extLst>
          </p:cNvPr>
          <p:cNvSpPr txBox="1"/>
          <p:nvPr/>
        </p:nvSpPr>
        <p:spPr>
          <a:xfrm>
            <a:off x="31221" y="109278"/>
            <a:ext cx="1208308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GOLD LAYER</a:t>
            </a: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  (Analytics-Ready Data Warehouse)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AF640-DAA5-620A-EEEC-36ECEA7DB67D}"/>
              </a:ext>
            </a:extLst>
          </p:cNvPr>
          <p:cNvSpPr txBox="1"/>
          <p:nvPr/>
        </p:nvSpPr>
        <p:spPr>
          <a:xfrm>
            <a:off x="140501" y="1061563"/>
            <a:ext cx="8784628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                                 </a:t>
            </a:r>
          </a:p>
          <a:p>
            <a:r>
              <a:rPr lang="en-US" sz="2000" dirty="0">
                <a:ea typeface="+mn-lt"/>
                <a:cs typeface="+mn-lt"/>
              </a:rPr>
              <a:t>               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                 🩶 Silver Layer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                                              │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                                             ▼  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                              🥇 Gold Layer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                                              │ 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┌─────────────┴─────────────┐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▼                                                                    ▼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📊 Fact Tables                                     📋 Dimension Tables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Orders                                                       Customer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Payments                                                  Product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Reviews                                                      Seller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Delivery SLA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25E23-D369-6E7B-2FAD-A59BDE94F861}"/>
              </a:ext>
            </a:extLst>
          </p:cNvPr>
          <p:cNvSpPr txBox="1"/>
          <p:nvPr/>
        </p:nvSpPr>
        <p:spPr>
          <a:xfrm>
            <a:off x="7274827" y="1233285"/>
            <a:ext cx="4808255" cy="258532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🎯 Purpose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📈 Business Analytics</a:t>
            </a:r>
            <a:endParaRPr lang="en-US" sz="2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📊 KPI Reporting</a:t>
            </a:r>
            <a:endParaRPr lang="en-US" sz="2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📉 Performance Analysis</a:t>
            </a:r>
            <a:endParaRPr lang="en-US" sz="2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📋 Dashboard Creation</a:t>
            </a:r>
            <a:endParaRPr lang="en-US" sz="2400">
              <a:solidFill>
                <a:schemeClr val="bg1"/>
              </a:solidFill>
            </a:endParaRP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7CE08-53A7-4B8E-558B-4E7354806967}"/>
              </a:ext>
            </a:extLst>
          </p:cNvPr>
          <p:cNvSpPr txBox="1"/>
          <p:nvPr/>
        </p:nvSpPr>
        <p:spPr>
          <a:xfrm>
            <a:off x="7274152" y="3814033"/>
            <a:ext cx="4808507" cy="33239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⚙</a:t>
            </a:r>
            <a:r>
              <a:rPr lang="en-US" sz="2400" b="1">
                <a:solidFill>
                  <a:schemeClr val="bg1"/>
                </a:solidFill>
              </a:rPr>
              <a:t>️ Output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⭐ Star Schema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🗄️ SQLite Database Tables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📊 Power BI Ready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⚡ Optimized for Fast Queries</a:t>
            </a:r>
            <a:endParaRPr lang="en-US" sz="2400" dirty="0">
              <a:solidFill>
                <a:schemeClr val="bg1"/>
              </a:solidFill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87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B96FED-6DB6-B353-1C7F-8DDF5BE6EC45}"/>
              </a:ext>
            </a:extLst>
          </p:cNvPr>
          <p:cNvSpPr txBox="1"/>
          <p:nvPr/>
        </p:nvSpPr>
        <p:spPr>
          <a:xfrm>
            <a:off x="124890" y="78055"/>
            <a:ext cx="1197380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ea typeface="+mn-lt"/>
                <a:cs typeface="+mn-lt"/>
              </a:rPr>
              <a:t>DATA QUALITY</a:t>
            </a:r>
          </a:p>
          <a:p>
            <a:pPr algn="ctr"/>
            <a:r>
              <a:rPr lang="en-US" sz="2400">
                <a:ea typeface="+mn-lt"/>
                <a:cs typeface="+mn-lt"/>
              </a:rPr>
              <a:t>(Ensuring Data Accuracy, Consistency, and Reliability)</a:t>
            </a:r>
            <a:endParaRPr lang="en-US" sz="2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6B266B-AA10-1916-909C-4FD166202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589718"/>
              </p:ext>
            </p:extLst>
          </p:nvPr>
        </p:nvGraphicFramePr>
        <p:xfrm>
          <a:off x="0" y="2148840"/>
          <a:ext cx="12192000" cy="3200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3656728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61077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✅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Validation 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📈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4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Duplicate Order 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0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Missing Values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5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Timestamp Format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60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Negative Payment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596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Negative Freight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352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Data Type Standardization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9284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1242B0-A1D8-05DB-5529-DEC66F34C449}"/>
              </a:ext>
            </a:extLst>
          </p:cNvPr>
          <p:cNvSpPr txBox="1"/>
          <p:nvPr/>
        </p:nvSpPr>
        <p:spPr>
          <a:xfrm>
            <a:off x="0" y="1498600"/>
            <a:ext cx="11937999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📋 Validation Checks</a:t>
            </a:r>
          </a:p>
          <a:p>
            <a:r>
              <a:rPr lang="en-US"/>
              <a:t>      </a:t>
            </a:r>
          </a:p>
          <a:p>
            <a:r>
              <a:rPr lang="en-US" b="1"/>
              <a:t>       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94B26-62C1-EEB4-3E88-4B8445DC09EC}"/>
              </a:ext>
            </a:extLst>
          </p:cNvPr>
          <p:cNvSpPr txBox="1"/>
          <p:nvPr/>
        </p:nvSpPr>
        <p:spPr>
          <a:xfrm>
            <a:off x="11645" y="5568395"/>
            <a:ext cx="12179451" cy="12926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💡 Key Outcome</a:t>
            </a:r>
          </a:p>
          <a:p>
            <a:r>
              <a:rPr lang="en-US" sz="2000">
                <a:ea typeface="+mn-lt"/>
                <a:cs typeface="+mn-lt"/>
              </a:rPr>
              <a:t>All validation checks were successfully completed, producing clean, consistent, and analytics-ready data for the Gold Layer and Power BI Dashboard.</a:t>
            </a:r>
            <a:endParaRPr lang="en-US" sz="20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20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787F2A-A952-4B9B-C22F-A0F8B7723A30}"/>
              </a:ext>
            </a:extLst>
          </p:cNvPr>
          <p:cNvSpPr txBox="1"/>
          <p:nvPr/>
        </p:nvSpPr>
        <p:spPr>
          <a:xfrm>
            <a:off x="156111" y="93666"/>
            <a:ext cx="118801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STAR SCHEMA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CACDD-F95E-D6A7-C2D1-BC03C054F5E7}"/>
              </a:ext>
            </a:extLst>
          </p:cNvPr>
          <p:cNvSpPr txBox="1"/>
          <p:nvPr/>
        </p:nvSpPr>
        <p:spPr>
          <a:xfrm>
            <a:off x="34513" y="811783"/>
            <a:ext cx="12157847" cy="2677656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👤 </a:t>
            </a:r>
            <a:r>
              <a:rPr lang="en-US" sz="2400">
                <a:solidFill>
                  <a:schemeClr val="bg1"/>
                </a:solidFill>
              </a:rPr>
              <a:t>Customer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 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🏪 </a:t>
            </a:r>
            <a:r>
              <a:rPr lang="en-US" sz="2400">
                <a:solidFill>
                  <a:schemeClr val="bg1"/>
                </a:solidFill>
              </a:rPr>
              <a:t>Seller</a:t>
            </a:r>
            <a:r>
              <a:rPr lang="en-US" sz="2400"/>
              <a:t> ─── 📦 </a:t>
            </a:r>
            <a:r>
              <a:rPr lang="en-US" sz="2400">
                <a:solidFill>
                  <a:schemeClr val="bg1"/>
                </a:solidFill>
              </a:rPr>
              <a:t>Fact Orders</a:t>
            </a:r>
            <a:r>
              <a:rPr lang="en-US" sz="2400"/>
              <a:t> ─── 📦</a:t>
            </a:r>
            <a:r>
              <a:rPr lang="en-US" sz="2400">
                <a:solidFill>
                  <a:schemeClr val="bg1"/>
                </a:solidFill>
              </a:rPr>
              <a:t> Product 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 ┌────────────┼────────────┐ </a:t>
            </a:r>
          </a:p>
          <a:p>
            <a:pPr algn="ctr"/>
            <a:r>
              <a:rPr lang="en-US" sz="2400"/>
              <a:t>💳 </a:t>
            </a:r>
            <a:r>
              <a:rPr lang="en-US" sz="2400">
                <a:solidFill>
                  <a:schemeClr val="bg1"/>
                </a:solidFill>
              </a:rPr>
              <a:t>Payments </a:t>
            </a:r>
            <a:r>
              <a:rPr lang="en-US" sz="2400"/>
              <a:t>     ⭐ </a:t>
            </a:r>
            <a:r>
              <a:rPr lang="en-US" sz="2400">
                <a:solidFill>
                  <a:schemeClr val="bg1"/>
                </a:solidFill>
              </a:rPr>
              <a:t>Reviews  </a:t>
            </a:r>
            <a:r>
              <a:rPr lang="en-US" sz="2400"/>
              <a:t>            🚚 </a:t>
            </a:r>
            <a:r>
              <a:rPr lang="en-US" sz="2400">
                <a:solidFill>
                  <a:schemeClr val="bg1"/>
                </a:solidFill>
              </a:rPr>
              <a:t>Delivery SLA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7D14FD-ED49-8095-C1F7-A2F9DE8B20BC}"/>
              </a:ext>
            </a:extLst>
          </p:cNvPr>
          <p:cNvCxnSpPr/>
          <p:nvPr/>
        </p:nvCxnSpPr>
        <p:spPr>
          <a:xfrm flipH="1">
            <a:off x="6144625" y="1202063"/>
            <a:ext cx="6194" cy="515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A75074F-8030-74D5-BBA3-A1B16770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" y="3494051"/>
            <a:ext cx="12155715" cy="33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48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2A311-BD3F-4D62-3C4A-FBF5634B4595}"/>
              </a:ext>
            </a:extLst>
          </p:cNvPr>
          <p:cNvSpPr txBox="1"/>
          <p:nvPr/>
        </p:nvSpPr>
        <p:spPr>
          <a:xfrm>
            <a:off x="8505663" y="1056639"/>
            <a:ext cx="3397649" cy="284072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>
                <a:latin typeface="+mj-lt"/>
                <a:ea typeface="+mj-ea"/>
                <a:cs typeface="+mj-cs"/>
              </a:rPr>
              <a:t>APACHE AIRFLOW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>
                <a:latin typeface="+mj-lt"/>
                <a:ea typeface="+mj-ea"/>
                <a:cs typeface="+mj-cs"/>
              </a:rPr>
              <a:t>(Automating the ETL Pipeline Workflow)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400" b="1"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2C13E2-1BDE-2C02-CEE2-03CB8B1A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618354"/>
            <a:ext cx="7466295" cy="4558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A8158-B464-3B3B-4A29-4A9725525863}"/>
              </a:ext>
            </a:extLst>
          </p:cNvPr>
          <p:cNvSpPr txBox="1"/>
          <p:nvPr/>
        </p:nvSpPr>
        <p:spPr>
          <a:xfrm>
            <a:off x="8011424" y="3589737"/>
            <a:ext cx="4183806" cy="19389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⚙️ Key Features 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 • Workflow Automation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• DAG Scheduling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 • Task Monitoring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 • Logging &amp; Retry 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F8548-F99E-8202-F881-E4CDDD103B8F}"/>
              </a:ext>
            </a:extLst>
          </p:cNvPr>
          <p:cNvSpPr txBox="1"/>
          <p:nvPr/>
        </p:nvSpPr>
        <p:spPr>
          <a:xfrm>
            <a:off x="171723" y="5854207"/>
            <a:ext cx="1184891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ea typeface="+mn-lt"/>
                <a:cs typeface="+mn-lt"/>
              </a:rPr>
              <a:t>💡 Airflow automates the execution of the ETL pipeline, ensuring reliable scheduling, monitoring, and logging. 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62337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72EAA-D542-4765-1060-326482475D6D}"/>
              </a:ext>
            </a:extLst>
          </p:cNvPr>
          <p:cNvSpPr txBox="1"/>
          <p:nvPr/>
        </p:nvSpPr>
        <p:spPr>
          <a:xfrm>
            <a:off x="8258920" y="657496"/>
            <a:ext cx="3927420" cy="18972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DAG EXECUTION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>
                <a:ea typeface="+mn-lt"/>
                <a:cs typeface="+mn-lt"/>
              </a:rPr>
              <a:t>  ETL Pipeline Execution</a:t>
            </a:r>
            <a:endParaRPr lang="en-US" sz="2400"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513BEB-B11E-DDAD-55CB-2EE66CE75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" y="667043"/>
            <a:ext cx="8373437" cy="4489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E54D3-E8FE-AAC5-FF04-34EAD0EFA914}"/>
              </a:ext>
            </a:extLst>
          </p:cNvPr>
          <p:cNvSpPr txBox="1"/>
          <p:nvPr/>
        </p:nvSpPr>
        <p:spPr>
          <a:xfrm>
            <a:off x="8399932" y="3009507"/>
            <a:ext cx="3768296" cy="283154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Workflow Steps</a:t>
            </a:r>
          </a:p>
          <a:p>
            <a:r>
              <a:rPr lang="en-US" sz="2000">
                <a:ea typeface="+mn-lt"/>
                <a:cs typeface="+mn-lt"/>
              </a:rPr>
              <a:t>① DAG Triggered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② Read Gold Layer CSV Files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③ Execute </a:t>
            </a:r>
            <a:r>
              <a:rPr lang="en-US" sz="2000">
                <a:latin typeface="Consolas"/>
              </a:rPr>
              <a:t>load_to_sqlite.py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④ Load Data into SQLite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⑤ Task Completed Successfully</a:t>
            </a:r>
            <a:endParaRPr lang="en-US" sz="2000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3CFD3-B4E0-27FA-0F21-D778DA42743E}"/>
              </a:ext>
            </a:extLst>
          </p:cNvPr>
          <p:cNvSpPr txBox="1"/>
          <p:nvPr/>
        </p:nvSpPr>
        <p:spPr>
          <a:xfrm>
            <a:off x="12742" y="5961545"/>
            <a:ext cx="121796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Airflow DAG successfully executed the ETL workflow by loading the Gold Layer datasets into the SQLite database with execution monitoring and task status tracking.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7881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B2FD3-CF01-E3C8-03BE-D6196DCB3204}"/>
              </a:ext>
            </a:extLst>
          </p:cNvPr>
          <p:cNvSpPr txBox="1"/>
          <p:nvPr/>
        </p:nvSpPr>
        <p:spPr>
          <a:xfrm>
            <a:off x="521208" y="978408"/>
            <a:ext cx="11155680" cy="11155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ETL PIPELINE SUCCESS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2B423-D91E-F977-95F6-0D9CDCD4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1540067"/>
            <a:ext cx="6546233" cy="2710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3E20C2-5222-D96E-5D02-C4F7644022BA}"/>
              </a:ext>
            </a:extLst>
          </p:cNvPr>
          <p:cNvSpPr txBox="1"/>
          <p:nvPr/>
        </p:nvSpPr>
        <p:spPr>
          <a:xfrm>
            <a:off x="7062361" y="1535031"/>
            <a:ext cx="5129784" cy="40507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✅ ETL Pipeline Completed Successfully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📂 Gold Layer CSV Files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 │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▼ 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🌬 Apache Airflow DAG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 │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▼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🗄 SQLite Database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 │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                    ▼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📊 Power BI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92B49-6323-C767-1D92-660BDE1605FF}"/>
              </a:ext>
            </a:extLst>
          </p:cNvPr>
          <p:cNvSpPr txBox="1"/>
          <p:nvPr/>
        </p:nvSpPr>
        <p:spPr>
          <a:xfrm>
            <a:off x="327835" y="4449197"/>
            <a:ext cx="432430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🟢 DAG Executed Successfully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🟢 Gold Layer Loaded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🟢 SQLite Database Updated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🟢 Dashboard Ready</a:t>
            </a:r>
            <a:endParaRPr lang="en-US" sz="2000"/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EB816-9B9C-EA48-7FA4-D6DB9D6CF7FF}"/>
              </a:ext>
            </a:extLst>
          </p:cNvPr>
          <p:cNvSpPr txBox="1"/>
          <p:nvPr/>
        </p:nvSpPr>
        <p:spPr>
          <a:xfrm>
            <a:off x="93667" y="5932262"/>
            <a:ext cx="119738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ETL pipeline completed successfully, transforming analytics-ready Gold Layer datasets into the SQLite database for business intelligence reporting through Power BI.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2112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BA832-DF8A-1DF5-037C-E270518A00C7}"/>
              </a:ext>
            </a:extLst>
          </p:cNvPr>
          <p:cNvSpPr txBox="1"/>
          <p:nvPr/>
        </p:nvSpPr>
        <p:spPr>
          <a:xfrm>
            <a:off x="5431536" y="978408"/>
            <a:ext cx="6236208" cy="1463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SQLITE DATABASE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(Centralized Storage for Gold Layer Tables)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24682-97B9-9B10-28F6-11573F67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62" r="3" b="3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008A5E-9336-7643-34D0-6F6F6A8FAB7B}"/>
              </a:ext>
            </a:extLst>
          </p:cNvPr>
          <p:cNvSpPr txBox="1"/>
          <p:nvPr/>
        </p:nvSpPr>
        <p:spPr>
          <a:xfrm>
            <a:off x="5431536" y="2578608"/>
            <a:ext cx="6236208" cy="37673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📋 Database Features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Lightweight Database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Stores Gold Layer Tables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Analytics Ready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Source for Power BI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DD898E-3729-6E97-4F03-3EE066DF2CA7}"/>
              </a:ext>
            </a:extLst>
          </p:cNvPr>
          <p:cNvSpPr txBox="1"/>
          <p:nvPr/>
        </p:nvSpPr>
        <p:spPr>
          <a:xfrm>
            <a:off x="64344" y="102951"/>
            <a:ext cx="12019555" cy="1209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9235A-FFDC-AC48-F3E1-91B72F4D9E0B}"/>
              </a:ext>
            </a:extLst>
          </p:cNvPr>
          <p:cNvSpPr txBox="1"/>
          <p:nvPr/>
        </p:nvSpPr>
        <p:spPr>
          <a:xfrm>
            <a:off x="218771" y="1209677"/>
            <a:ext cx="3809195" cy="26896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881A0-3A71-565D-C6C3-64A5F7AF1E6E}"/>
              </a:ext>
            </a:extLst>
          </p:cNvPr>
          <p:cNvSpPr txBox="1"/>
          <p:nvPr/>
        </p:nvSpPr>
        <p:spPr>
          <a:xfrm>
            <a:off x="4982240" y="5327271"/>
            <a:ext cx="674879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💡 SQLite stores the transformed Gold Layer tables,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providing a centralized data source for Power BI.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929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DD3468-4376-DB77-79E5-EA037A85728B}"/>
              </a:ext>
            </a:extLst>
          </p:cNvPr>
          <p:cNvSpPr txBox="1"/>
          <p:nvPr/>
        </p:nvSpPr>
        <p:spPr>
          <a:xfrm>
            <a:off x="503355" y="659682"/>
            <a:ext cx="3566452" cy="298558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POWER BI DASHBOARD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>
                <a:latin typeface="+mj-lt"/>
                <a:ea typeface="+mj-ea"/>
                <a:cs typeface="+mj-cs"/>
              </a:rPr>
              <a:t>(Interactive Business Intelligence &amp; Performance Analytic)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95C25-89C0-9E30-D90B-9645D46D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1"/>
          <a:stretch>
            <a:fillRect/>
          </a:stretch>
        </p:blipFill>
        <p:spPr>
          <a:xfrm>
            <a:off x="3822337" y="668247"/>
            <a:ext cx="7863260" cy="55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01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F0EC04-8CF1-7C7B-C6E7-F279C21EFE5F}"/>
              </a:ext>
            </a:extLst>
          </p:cNvPr>
          <p:cNvSpPr txBox="1"/>
          <p:nvPr/>
        </p:nvSpPr>
        <p:spPr>
          <a:xfrm>
            <a:off x="0" y="13088"/>
            <a:ext cx="12195875" cy="892552"/>
          </a:xfrm>
          <a:prstGeom prst="rect">
            <a:avLst/>
          </a:prstGeom>
          <a:solidFill>
            <a:schemeClr val="accent5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ea typeface="+mn-lt"/>
                <a:cs typeface="+mn-lt"/>
              </a:rPr>
              <a:t>BUSINESS INSIGHTS</a:t>
            </a:r>
          </a:p>
          <a:p>
            <a:pPr algn="ctr"/>
            <a:r>
              <a:rPr lang="en-US" sz="2000">
                <a:ea typeface="+mn-lt"/>
                <a:cs typeface="+mn-lt"/>
              </a:rPr>
              <a:t>(Key Findings from the Power BI Dashboard)</a:t>
            </a: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661CC-6841-A3F9-3001-8F64B5F7CD50}"/>
              </a:ext>
            </a:extLst>
          </p:cNvPr>
          <p:cNvSpPr txBox="1"/>
          <p:nvPr/>
        </p:nvSpPr>
        <p:spPr>
          <a:xfrm>
            <a:off x="66866" y="716364"/>
            <a:ext cx="12057149" cy="65248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📦 Order Performance</a:t>
            </a:r>
            <a:endParaRPr lang="en-US" sz="2000" b="1" dirty="0"/>
          </a:p>
          <a:p>
            <a:r>
              <a:rPr lang="en-US" sz="2000" b="1">
                <a:ea typeface="+mn-lt"/>
                <a:cs typeface="+mn-lt"/>
              </a:rPr>
              <a:t>99K+ Orders</a:t>
            </a:r>
            <a:r>
              <a:rPr lang="en-US" sz="2000">
                <a:ea typeface="+mn-lt"/>
                <a:cs typeface="+mn-lt"/>
              </a:rPr>
              <a:t> were successfully processed through the ETL pipeline, providing a comprehensive view of order fulfilment performance.</a:t>
            </a:r>
            <a:endParaRPr lang="en-US" sz="2000"/>
          </a:p>
          <a:p>
            <a:endParaRPr lang="en-US" sz="2000" b="1" dirty="0"/>
          </a:p>
          <a:p>
            <a:r>
              <a:rPr lang="en-US" sz="2000" b="1"/>
              <a:t>💰 Revenue Analysis</a:t>
            </a:r>
            <a:endParaRPr lang="en-US" sz="2000" b="1" dirty="0"/>
          </a:p>
          <a:p>
            <a:r>
              <a:rPr lang="en-US" sz="2000">
                <a:ea typeface="+mn-lt"/>
                <a:cs typeface="+mn-lt"/>
              </a:rPr>
              <a:t>The platform generated approximately </a:t>
            </a:r>
            <a:r>
              <a:rPr lang="en-US" sz="2000" b="1">
                <a:ea typeface="+mn-lt"/>
                <a:cs typeface="+mn-lt"/>
              </a:rPr>
              <a:t>16.01 Million</a:t>
            </a:r>
            <a:r>
              <a:rPr lang="en-US" sz="2000">
                <a:ea typeface="+mn-lt"/>
                <a:cs typeface="+mn-lt"/>
              </a:rPr>
              <a:t> in total revenue, indicating strong sales performance.</a:t>
            </a:r>
            <a:endParaRPr lang="en-US" sz="2000"/>
          </a:p>
          <a:p>
            <a:endParaRPr lang="en-US" sz="2000" b="1" dirty="0"/>
          </a:p>
          <a:p>
            <a:r>
              <a:rPr lang="en-US" sz="2000" b="1"/>
              <a:t>🚚 Delivery Performance</a:t>
            </a:r>
            <a:endParaRPr lang="en-US" sz="2000" b="1" dirty="0"/>
          </a:p>
          <a:p>
            <a:r>
              <a:rPr lang="en-US" sz="2000">
                <a:ea typeface="+mn-lt"/>
                <a:cs typeface="+mn-lt"/>
              </a:rPr>
              <a:t>The average delivery time was </a:t>
            </a:r>
            <a:r>
              <a:rPr lang="en-US" sz="2000" b="1">
                <a:ea typeface="+mn-lt"/>
                <a:cs typeface="+mn-lt"/>
              </a:rPr>
              <a:t>12.09 days</a:t>
            </a:r>
            <a:r>
              <a:rPr lang="en-US" sz="2000">
                <a:ea typeface="+mn-lt"/>
                <a:cs typeface="+mn-lt"/>
              </a:rPr>
              <a:t>, reflecting an efficient order fulfilment process.</a:t>
            </a:r>
            <a:endParaRPr lang="en-US" sz="2000"/>
          </a:p>
          <a:p>
            <a:endParaRPr lang="en-US" sz="2000" b="1" dirty="0"/>
          </a:p>
          <a:p>
            <a:r>
              <a:rPr lang="en-US" sz="2000" b="1"/>
              <a:t>⭐ Customer Satisfaction</a:t>
            </a:r>
            <a:endParaRPr lang="en-US" sz="2000" b="1" dirty="0"/>
          </a:p>
          <a:p>
            <a:r>
              <a:rPr lang="en-US" sz="2000">
                <a:ea typeface="+mn-lt"/>
                <a:cs typeface="+mn-lt"/>
              </a:rPr>
              <a:t>The average customer review score was </a:t>
            </a:r>
            <a:r>
              <a:rPr lang="en-US" sz="2000" b="1">
                <a:ea typeface="+mn-lt"/>
                <a:cs typeface="+mn-lt"/>
              </a:rPr>
              <a:t>4.09/5</a:t>
            </a:r>
            <a:r>
              <a:rPr lang="en-US" sz="2000">
                <a:ea typeface="+mn-lt"/>
                <a:cs typeface="+mn-lt"/>
              </a:rPr>
              <a:t>, showing a high level of customer satisfaction.</a:t>
            </a:r>
            <a:endParaRPr lang="en-US" sz="2000"/>
          </a:p>
          <a:p>
            <a:br>
              <a:rPr lang="en-US" sz="2000" dirty="0"/>
            </a:br>
            <a:r>
              <a:rPr lang="en-US" sz="2000" b="1"/>
              <a:t>💳 Payment Insights</a:t>
            </a:r>
            <a:endParaRPr lang="en-US" sz="2000" b="1" dirty="0"/>
          </a:p>
          <a:p>
            <a:r>
              <a:rPr lang="en-US" sz="2000" b="1">
                <a:ea typeface="+mn-lt"/>
                <a:cs typeface="+mn-lt"/>
              </a:rPr>
              <a:t>Credit Card</a:t>
            </a:r>
            <a:r>
              <a:rPr lang="en-US" sz="2000">
                <a:ea typeface="+mn-lt"/>
                <a:cs typeface="+mn-lt"/>
              </a:rPr>
              <a:t> was identified as the most preferred payment method among customers.</a:t>
            </a:r>
            <a:endParaRPr lang="en-US" sz="2000"/>
          </a:p>
          <a:p>
            <a:br>
              <a:rPr lang="en-US" sz="2000" dirty="0"/>
            </a:br>
            <a:r>
              <a:rPr lang="en-US" sz="2000" b="1"/>
              <a:t>🎯 Business Value</a:t>
            </a:r>
            <a:endParaRPr lang="en-US" sz="2000" b="1" dirty="0"/>
          </a:p>
          <a:p>
            <a:r>
              <a:rPr lang="en-US" sz="2000">
                <a:ea typeface="+mn-lt"/>
                <a:cs typeface="+mn-lt"/>
              </a:rPr>
              <a:t>The interactive dashboard enables stakeholders to monitor KPIs, evaluate operational performance, and make data-driven business decisions.</a:t>
            </a:r>
            <a:endParaRPr lang="en-US" sz="20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02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617D0-B472-B21C-2391-B854AB1EB2A4}"/>
              </a:ext>
            </a:extLst>
          </p:cNvPr>
          <p:cNvSpPr txBox="1"/>
          <p:nvPr/>
        </p:nvSpPr>
        <p:spPr>
          <a:xfrm>
            <a:off x="-16654" y="-1428"/>
            <a:ext cx="12190756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ea typeface="+mn-lt"/>
                <a:cs typeface="+mn-lt"/>
              </a:rPr>
              <a:t>CHALLENGES &amp; SOLUTIONS</a:t>
            </a:r>
          </a:p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(Challenges Encountered During ETL Pipeline Development)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715A4-3E23-9B14-B235-5BF99B13AA0C}"/>
              </a:ext>
            </a:extLst>
          </p:cNvPr>
          <p:cNvSpPr txBox="1"/>
          <p:nvPr/>
        </p:nvSpPr>
        <p:spPr>
          <a:xfrm>
            <a:off x="87925" y="740274"/>
            <a:ext cx="12007062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🔹 </a:t>
            </a:r>
            <a:r>
              <a:rPr lang="en-US" sz="1600" b="1"/>
              <a:t>Challenge 1</a:t>
            </a:r>
          </a:p>
          <a:p>
            <a:r>
              <a:rPr lang="en-US" sz="1600">
                <a:ea typeface="+mn-lt"/>
                <a:cs typeface="+mn-lt"/>
              </a:rPr>
              <a:t>Multiple Raw Data Sources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Solution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Integrated multiple CSV datasets into a unified ETL pipeline using Python and Pandas.</a:t>
            </a:r>
            <a:endParaRPr lang="en-US" sz="1600"/>
          </a:p>
          <a:p>
            <a:br>
              <a:rPr lang="en-US" sz="1600" dirty="0"/>
            </a:br>
            <a:r>
              <a:rPr lang="en-US" sz="1600"/>
              <a:t>🔹 </a:t>
            </a:r>
            <a:r>
              <a:rPr lang="en-US" sz="1600" b="1"/>
              <a:t>Challenge 2</a:t>
            </a:r>
          </a:p>
          <a:p>
            <a:r>
              <a:rPr lang="en-US" sz="1600">
                <a:ea typeface="+mn-lt"/>
                <a:cs typeface="+mn-lt"/>
              </a:rPr>
              <a:t>Data Quality Issues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Solution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Performed duplicate removal, timestamp conversion, missing value handling, and validation checks during the Silver Layer transformation.</a:t>
            </a:r>
            <a:endParaRPr lang="en-US" sz="1600"/>
          </a:p>
          <a:p>
            <a:br>
              <a:rPr lang="en-US" sz="1600" dirty="0"/>
            </a:br>
            <a:r>
              <a:rPr lang="en-US" sz="1600"/>
              <a:t>🔹</a:t>
            </a:r>
            <a:r>
              <a:rPr lang="en-US" sz="1600" b="1"/>
              <a:t> Challenge 3</a:t>
            </a:r>
          </a:p>
          <a:p>
            <a:r>
              <a:rPr lang="en-US" sz="1600">
                <a:ea typeface="+mn-lt"/>
                <a:cs typeface="+mn-lt"/>
              </a:rPr>
              <a:t>Workflow Automation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Solution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Implemented Apache Airflow to automate ETL execution, scheduling, monitoring, and logging.</a:t>
            </a:r>
            <a:endParaRPr lang="en-US" sz="1600"/>
          </a:p>
          <a:p>
            <a:br>
              <a:rPr lang="en-US" sz="1600" dirty="0"/>
            </a:br>
            <a:r>
              <a:rPr lang="en-US" sz="1600"/>
              <a:t>🔹 </a:t>
            </a:r>
            <a:r>
              <a:rPr lang="en-US" sz="1600" b="1"/>
              <a:t>Challenge 4</a:t>
            </a:r>
          </a:p>
          <a:p>
            <a:r>
              <a:rPr lang="en-US" sz="1600">
                <a:ea typeface="+mn-lt"/>
                <a:cs typeface="+mn-lt"/>
              </a:rPr>
              <a:t>Centralized Data Storage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Solution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Stored analytics-ready Gold Layer tables in SQLite, creating a centralized repository for Power BI reporting.</a:t>
            </a:r>
            <a:endParaRPr lang="en-US" sz="1600"/>
          </a:p>
          <a:p>
            <a:br>
              <a:rPr lang="en-US" sz="1600" dirty="0"/>
            </a:br>
            <a:r>
              <a:rPr lang="en-US" sz="1600"/>
              <a:t>💡 </a:t>
            </a:r>
            <a:r>
              <a:rPr lang="en-US" sz="1600" b="1"/>
              <a:t>Key Achievement</a:t>
            </a:r>
          </a:p>
          <a:p>
            <a:r>
              <a:rPr lang="en-US" sz="1600">
                <a:ea typeface="+mn-lt"/>
                <a:cs typeface="+mn-lt"/>
              </a:rPr>
              <a:t>Successfully developed an end-to-end automated Data Engineering pipeline that transforms raw e-commerce data into business-ready insights.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41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17085-F334-7E6E-79AC-17C1D41DBEB8}"/>
              </a:ext>
            </a:extLst>
          </p:cNvPr>
          <p:cNvSpPr txBox="1"/>
          <p:nvPr/>
        </p:nvSpPr>
        <p:spPr>
          <a:xfrm>
            <a:off x="0" y="51475"/>
            <a:ext cx="12148245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FUTURE SCOPE</a:t>
            </a: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(Potential Enhancements for the ETL Pipeline)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7502D-1C32-EEC8-AFF9-E007977EFCE4}"/>
              </a:ext>
            </a:extLst>
          </p:cNvPr>
          <p:cNvSpPr txBox="1"/>
          <p:nvPr/>
        </p:nvSpPr>
        <p:spPr>
          <a:xfrm>
            <a:off x="102951" y="875085"/>
            <a:ext cx="11993818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☁️ </a:t>
            </a:r>
            <a:r>
              <a:rPr lang="en-US" b="1">
                <a:solidFill>
                  <a:schemeClr val="bg1"/>
                </a:solidFill>
              </a:rPr>
              <a:t>Cloud Deployment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Deploy the ETL pipeline on cloud platforms such as Microsoft Azure, AWS, or Google Cloud Platform for improved scalability.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⚡ Big Data Processing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Integrate Apache Spark to process large-scale datasets with better performance and distributed computing.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📡 </a:t>
            </a:r>
            <a:r>
              <a:rPr lang="en-US" b="1">
                <a:solidFill>
                  <a:schemeClr val="bg1"/>
                </a:solidFill>
              </a:rPr>
              <a:t>Real-Time Data Processing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Implement real-time data ingestion and streaming using Apache Kafka or Apache Spark Streaming.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🤖 Predictive Analytics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Apply Machine Learning models to forecast sales, predict delivery delays, and analyze customer behavior.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🔄 Incremental Data Loading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Replace full data loads with incremental ETL processing to improve execution efficiency and reduce processing time.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🎯 Long-Term Vision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Develop a fully automated, cloud-based, real-time Data Engineering platform capable of supporting enterprise-scale analytics.</a:t>
            </a:r>
            <a:endParaRPr lang="en-US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5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B4C54C-A174-ED7F-EB4F-3C7FBA86A057}"/>
              </a:ext>
            </a:extLst>
          </p:cNvPr>
          <p:cNvSpPr txBox="1"/>
          <p:nvPr/>
        </p:nvSpPr>
        <p:spPr>
          <a:xfrm>
            <a:off x="154426" y="128689"/>
            <a:ext cx="117879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🎯 CONCLUSION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FB9AA-48F6-AD07-5A81-71CBEE401752}"/>
              </a:ext>
            </a:extLst>
          </p:cNvPr>
          <p:cNvSpPr txBox="1"/>
          <p:nvPr/>
        </p:nvSpPr>
        <p:spPr>
          <a:xfrm>
            <a:off x="115819" y="810741"/>
            <a:ext cx="7167979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✅ KEY ACHIEVEMENTS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End-to-End ETL Pipeline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Medallion Architecture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Apache Airflow Automation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SQLite Data Storage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Interactive Power BI Dashboard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BC7CC-36C3-616E-E01E-8D962AD268B3}"/>
              </a:ext>
            </a:extLst>
          </p:cNvPr>
          <p:cNvSpPr txBox="1"/>
          <p:nvPr/>
        </p:nvSpPr>
        <p:spPr>
          <a:xfrm>
            <a:off x="7289356" y="5843571"/>
            <a:ext cx="599044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💡</a:t>
            </a:r>
            <a:r>
              <a:rPr lang="en-US" sz="2000">
                <a:ea typeface="+mn-lt"/>
                <a:cs typeface="+mn-lt"/>
              </a:rPr>
              <a:t> Final Takeaway</a:t>
            </a:r>
            <a:endParaRPr lang="en-US" sz="2000" dirty="0"/>
          </a:p>
          <a:p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"Raw Data ➜ Business Insights"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09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16C32C-CA19-8287-024E-D6ACA459BD27}"/>
              </a:ext>
            </a:extLst>
          </p:cNvPr>
          <p:cNvSpPr txBox="1"/>
          <p:nvPr/>
        </p:nvSpPr>
        <p:spPr>
          <a:xfrm>
            <a:off x="887954" y="268977"/>
            <a:ext cx="1048815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7200" b="1" dirty="0"/>
          </a:p>
          <a:p>
            <a:pPr algn="ctr"/>
            <a:endParaRPr lang="en-US" sz="7200" b="1" dirty="0"/>
          </a:p>
          <a:p>
            <a:pPr algn="ctr"/>
            <a:r>
              <a:rPr lang="en-US" sz="7200" b="1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1944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E515430-86DB-4B6B-974D-1452A397A46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E2FE14-95C5-45FF-BC75-86BFB7608E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A7ED85-B808-434C-86A4-C74008DE35E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Slice</vt:lpstr>
      <vt:lpstr> E-Commerce Order Fulfilment Data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206</cp:revision>
  <dcterms:created xsi:type="dcterms:W3CDTF">2026-06-21T05:39:13Z</dcterms:created>
  <dcterms:modified xsi:type="dcterms:W3CDTF">2026-06-21T11:45:36Z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